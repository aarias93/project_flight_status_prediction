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6558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(20 s). "Una aerolínea no puede vigilar todos sus vuelos. Nuestro proyecto le dice cuáles vigilar primero." Preséntense (nombres y materia) y anuncien el recorrido: el problema, lo que aprendimos de los datos, la solución y sus resultados, cómo funciona sin intervención manual y qué recomendamos. Duración total prevista: 10 a 12 minutos.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 · EL PROBLEMA (1 min) "Imaginen que son el equipo de operaciones de una aerolínea. El equipo solo puede hacer seguimiento preventivo a una fracción de los vuelos. Si elige al azar, uno de cada cinco que revise se retrasará. La pregunta es si podemos hacerlo mejor usando solo lo que se sabe antes de la salida." Mensaje clave: el valor está en priorizar, no en adivinar. Aclaraciones por si preguntan: - Retraso = llegar 15 minutos o más tarde (variable ArrDel15). - El 10 % es una capacidad ilustrativa para comparar modelos; no viene de un cliente real. - Unidad de análisis: un vuelo programado en una fecha. El modelo no predice cancelaciones ni desvíos. - Dato del gráfico: 21,65 % de retrasos en enero–julio de 2022 (3.944.916 vuelos).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2 · LOS DATOS (1 min) "Trabajamos con 29 millones de vuelos de Estados Unidos entre 2018 y 2022. El archivo pesa 10 GB y no cabe en la memoria de un equipo normal: el nuestro tenía 8 GB de RAM y solo 1,3 GB libres. Por eso lo transformamos a un formato columnar y lo procesamos por partes." Mensaje clave: el reto era de escala y se resolvió con ingeniería. Detalles si preguntan: - La conversión a Parquet escribe en un archivo temporal, verifica que filas y columnas coincidan con el original y solo entonces lo renombra. Corta si quedan menos de 3 GB de disco. - Los tipos de dato se fijaron a mano para no perder, por ejemplo, el cero inicial de una hora como 0905. - DuckDB consulta el Parquet sin cargarlo entero, con un tope de 512 MB y un hilo. - 2022 solo llega hasta julio.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3 · LO QUE APRENDIMOS DE LOS DATOS (2 min en total: hallazgos 1, 2 y 3, diapositivas 4 a 6) HALLAZGO 1. "Antes de modelar, exploramos. Primero, los retrasos suben a lo largo del día: de 8 % a las cinco de la mañana a casi 25 % a las siete de la noche." Números del gráfico: 5 h = 8,30 %; 19 h = 24,55 %; vuelos entre las 6 y las 8 h son los más numerosos (cerca de 2 millones por hora). Cuidado: es un patrón descriptivo. Es plausible que los retrasos se acumulen durante la jornada, pero el EDA no lo demuestra. Los picos de las 2 y 3 h (23 a 24 %) corresponden a muy pocos vuelos (7.422 y 5.767). Consecuencia para el modelo: hora_salida (0 a 23) entra como variable.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HALLAZGO 2. "Segundo, 2020 fue un año atípico, con apenas 10 % de retrasos, mientras 2022 llegó a 21,6 %. El pasado no se parece al presente." Datos del EDA (vuelos operados): 2018 19,5 %; 2019 19,3 %; 2020 10,0 %; 2021 17,3 %; 2022 21,6 %. En 2020 el retraso medio de llegada fue de −4,9 minutos (en promedio, los vuelos llegaban antes de lo programado) y las cancelaciones llegaron a 5,99 % en el año (9,17 % de enero a julio), con un pico de más de 40 % en abril. Cuidado: la caída de 2020 coincide en el tiempo con la pandemia, pero estas consultas no identifican su efecto causal. Consecuencia: la tasa de retraso sube entre los periodos del proyecto (15,81 % entrenamiento, 17,27 % validación, 21,65 % prueba). Por eso se divide por tiempo: en la vida real se predice el futuro con datos del pasado. Si preguntan por 2018: tiene huecos de cobertura concentrados en algunas aerolíneas (Delta 150 mil vuelos frente a 662 mil en 2019, de enero a agosto). Por eso queda solo para exploración. El notebook aclara que esto no prueba la causa del faltante.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HALLAZGO 3. "Tercero, el retraso de salida explica casi todo el retraso de llegada, pero no lo sabemos antes de salir, así que no lo usamos. Preferimos un modelo más modesto y honesto que uno espectacular e inútil." Es la mejor defensa metodológica del proyecto. Si el modelo supiera cuánto se retrasó la salida, "predeciría" casi perfecto, pero esa información no existe en el momento en que se necesita decidir. A eso se le llama fuga de datos. Datos: Pearson DepDelay-ArrDelay = 0,963 (sobre todos los pares disponibles de vuelos operados); Spearman = 0,647 (muestra reproducible de hasta 100.000 filas completas). Las dos poblaciones de cálculo son distintas, por eso difieren. TaxiOut también se asocia con ArrDelay (0,21 en Pearson). Variables que sí entran: aerolínea operadora, origen, destino, día de la semana, hora programada de salida, distancia, duración programada y un indicador de duración faltante. Mes: se usó en la V1 y se quitó en la V2, porque los meses de validación no aparecían en el entrenamiento.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4 · CÓMO CONSTRUIMOS LA SOLUCIÓN (1,5 min) "Dejamos fuera cancelados y desviados, porque no tienen un retraso medible. Limpiamos la base hasta 28,3 millones de vuelos. Y evaluamos por tiempo: entrenamos con el pasado, validamos con 2021 y probamos con 2022, como pasaría en la vida real. Probamos primero una regresión simple y luego un modelo más flexible, y los comparamos siempre contra una referencia sencilla: el historial por aerolínea, aeropuerto y hora." Cifras del embudo (se pueden verificar en el notebook): 29.193.782 originales; excluidos 846.183 (777.265 cancelados, 68.347 desviados, 569 sin resultado y 2 cancelados y desviados a la vez); 28.347.599 válidos; se eliminan 2 registros que comparten clave y tienen etiquetas contradictorias (20 y 877 minutos de retraso, probablemente un vuelo reprogramado al día siguiente); quedan 28.347.597 en 55 archivos mensuales. Hubo además 71 duraciones programadas inválidas, que se marcan con un indicador y se imputan dentro del modelo, solo con datos de entrenamiento. Historia del modelado: la V1 (regresión logística, 400.000 vuelos) supera a la referencia histórica de forma modesta. La V2 compara logística y gradient boosting con datos de 2021 y valida en octubre a diciembre. Más etapas y hojas no ayudaron; más datos (1 millón) sí. La decisión de modelo de la V1 se escribió en un archivo antes de mirar 2022.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5 · RESULTADOS (2 min). Es la diapositiva clave. "Si la aerolínea revisa el 10 % de los vuelos, unos 394 mil, al azar encontraría unos 85 mil retrasos. Con nuestro modelo encuentra casi 164 mil: prácticamente el doble. De cada 100 vuelos que marcamos, 42 efectivamente se retrasan, contra 22 al azar. Frente a nuestra primera versión, el modelo final encuentra 32 mil retrasos más con el mismo esfuerzo." Mensaje clave: el modelo concentra el riesgo. De dónde sale cada cifra (evaluación enero–julio de 2022, 3.944.916 vuelos, 394.492 priorizados): - Al azar: 21,65 % x 394.492 = 85.404 (estimación, no es una medición del notebook). - Referencia histórica: 125.053 (tasa por aerolínea, origen y hora, calculada con 2019–2020). - Regresión logística V1: 131.777 (precisión 33,40 %, recall 15,43 %, ROC-AUC 0,6175). - Gradient boosting final (1 M de vuelos, enero–septiembre de 2021): 163.780 (precisión 41,52 %, recall 19,18 %, lift 1,92, ROC-AUC 0,6455, Average Precision 0,3346). - Diferencia frente a V1: 163.780 − 131.777 = 32.003 (+24,3 %). No digas "el modelo acierta el 41 %": es la precisión dentro del grupo priorizado, no la exactitud global. Cuidado: la V1 y el modelo final difieren en algoritmo, periodo de entrenamiento y tamaño de muestra; por eso la mejora no se atribuye solo al algoritmo.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6 · LO QUE NO RESUELVE (1 min) "Seamos claros: el modelo es una ayuda para ordenar, no una bola de cristal. Aun priorizando bien, capturamos cerca de una quinta parte de todos los retrasos, y más de la mitad de los vuelos marcados no se retrasa. Tampoco estima la tasa global: calcula 16,8 % cuando la realidad fue 21,6 %. Y no demostramos que actuar sobre una alerta evite el retraso." Cifras: recall 19,18 % (80,82 % de los retrasos queda fuera); precisión 41,52 % (58,48 % de los marcados no se retrasó); probabilidad media estimada 16,79 % frente a 21,65 % observado. Una lectura razonable de la subestimación (el notebook solo la reporta y la deja como mejora pendiente de calibración): el modelo aprendió de periodos con menos retrasos (2021) que el periodo que le tocó predecir (2022). Preséntala como interpretación, no como hecho comprobado. Para priorizar importa el orden, así que el modelo sigue siendo útil. Para dar probabilidades fiables falta calibrar. La selección del 10 % se calculó sobre todo el periodo; una aplicación diaria requeriría evaluarla dentro de los vuelos de cada jornada.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7 · QUE FUNCIONE SIN NOSOTROS, PRIMERA PARTE (1,5 min en total con la diapositiva siguiente) "Automatizamos el proceso. Cada archivo nuevo de vuelos se valida, se puntúa y se resume solo." Cómo funciona (Prefect): un flujo de cuatro tareas (validar la entrada, predecir y agregar por bloques, construir indicadores, exportar). Un programador revisa cada minuto la carpeta de entradas y calcula una huella SHA-256 del archivo, del modelo y del código: solo procesa lo nuevo o modificado, y anota el archivo como procesado únicamente cuando el flujo termina bien. Guarda sumas y no promedios, porque las sumas se pueden recombinar sin error entre bloques y archivos. Evidencia: marzo de 2022 procesó 579.953 vuelos y generó 52.802 filas de resumen; en las revisiones siguientes el sistema omitió el archivo sin cambios. Abril a julio se procesaron y validaron (los vuelos de entrada igualan los vuelos del resumen y no hay claves duplicadas). Límite que hay que decir: el flujo arranca desde Parquet ya preparado. La limpieza del CSV original, la consolidación y la carga a AWS se ejecutan por separado. No lo presentes como un flujo automático continuo de CSV a tablero. La demostración es local y requiere mantener activos el servidor y el proceso de programación.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7 · SEGUNDA PARTE: RESULTADOS EN LA NUBE Y TABLERO "Los resultados, y solo los resultados, se guardan en una base de datos en la nube con acceso restringido, y un tablero permite a los gerentes ver volumen, tasa de retraso y riesgo por mes, aerolínea y aeropuerto." Qué muestra el tablero (captura real): 3.944.916 vuelos analizados; 21,65 % con retraso de 15 minutos o más; barras de retrasos observados frente a riesgo medio estimado por mes (se ve a simple vista que el riesgo estimado queda por debajo de lo observado); top 10 de orígenes por cantidad de vuelos con retraso (DEN, ORD, ATL, DFW, CLT...); y una tabla de orígenes con mayor tasa de retraso, con un mínimo de 10.000 vuelos. Cómo se cargó: los siete resúmenes mensuales se consolidaron en 358.665 filas, con validaciones estrictas (claves únicas, sin nulos, retrasos menores o iguales a vuelos). La carga a PostgreSQL usa una tabla temporal, valida los totales y luego inserta con una operación que no duplica si se repite; todo en una transacción que se revierte si algo falla. La tabla tiene restricciones que impiden datos incoherentes. Las tasas del tablero se calculan como suma de retrasos entre suma de vuelos, no como promedio de porcentajes. Cuidado al hablar de aeropuertos: el ranking describe vuelos que salieron de ese origen y llegaron tarde a destino. No demuestra que el aeropuerto de origen haya causado el retraso. Pendiente de confirmar con el grupo: qué dimensión se presenta como "gerencia" (las disponibles son aerolínea y aeropuerto de origen).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8 · RECOMENDACIONES Y PRÓXIMOS PASOS (1 min) "Recomendamos tres pasos. Uno: piloto controlado para medir si actuar sobre las alertas reduce retrasos y cuánto cuesta. Dos: incorporar clima y restricciones de tráfico aéreo, que hoy no tenemos. Tres: calibrar el modelo y probarlo con un periodo nuevo. Con eso pasamos de un prototipo a una herramienta operativa." CIERRE (15 s): "Con la misma capacidad de revisión, casi el doble de retrasos identificados: un buen primer paso, con límites claros y una ruta definida para mejorarlo." Por qué estos tres pasos (todos salen de las limitaciones declaradas en el notebook): el proyecto no demuestra que las alertas eviten retrasos ni generen ahorro; no incorpora clima ni restricciones de tráfico aéreo (la versión de Kaggle no trae las columnas de causa del retraso); el riesgo medio estimado (16,79 %) queda por debajo de la tasa observada (21,65 %); la selección del 10 % se calculó sobre todo el periodo y no por día; y 2022 ya se había consultado, así que hace falta un periodo nuevo. También queda pendiente verificar la reproducción completa del proyecto desde un entorno limpio. Abrir el turno de preguntas.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12912"/>
            <a:ext cx="10566400" cy="416471"/>
          </a:xfrm>
          <a:prstGeom prst="rect">
            <a:avLst/>
          </a:prstGeom>
          <a:noFill/>
          <a:ln/>
        </p:spPr>
        <p:txBody>
          <a:bodyPr wrap="square" lIns="0" tIns="0" rIns="0" bIns="0" rtlCol="0" anchor="t"/>
          <a:lstStyle>
            <a:lvl1pPr marL="0" indent="0" algn="l">
              <a:lnSpc>
                <a:spcPct val="115000"/>
              </a:lnSpc>
              <a:buNone/>
              <a:defRPr lang="en-US" sz="2995" dirty="0">
                <a:solidFill>
                  <a:srgbClr val="16222F"/>
                </a:solidFill>
                <a:latin typeface="Arial" pitchFamily="34" charset="0"/>
                <a:ea typeface="Arial" pitchFamily="34" charset="-122"/>
                <a:cs typeface="Arial" pitchFamily="34" charset="-120"/>
              </a:defRPr>
            </a:lvl1pPr>
          </a:lstStyle>
          <a:p>
            <a:pPr marL="0" indent="0" algn="l">
              <a:lnSpc>
                <a:spcPct val="115000"/>
              </a:lnSpc>
              <a:buNone/>
            </a:pPr>
            <a:endParaRPr lang="en-US" sz="2995" dirty="0"/>
          </a:p>
        </p:txBody>
      </p:sp>
      <p:sp>
        <p:nvSpPr>
          <p:cNvPr id="3" name="Text Placeholder 2"/>
          <p:cNvSpPr>
            <a:spLocks noGrp="1"/>
          </p:cNvSpPr>
          <p:nvPr>
            <p:ph type="body" idx="101"/>
          </p:nvPr>
        </p:nvSpPr>
        <p:spPr>
          <a:xfrm>
            <a:off x="812800" y="2034183"/>
            <a:ext cx="10566400" cy="4011017"/>
          </a:xfrm>
          <a:prstGeom prst="rect">
            <a:avLst/>
          </a:prstGeom>
          <a:noFill/>
          <a:ln/>
        </p:spPr>
        <p:txBody>
          <a:bodyPr wrap="square" lIns="0" tIns="0" rIns="0" bIns="0" rtlCol="0" anchor="t"/>
          <a:lstStyle>
            <a:lvl1pPr marL="0" indent="0" algn="l">
              <a:lnSpc>
                <a:spcPct val="140000"/>
              </a:lnSpc>
              <a:buNone/>
              <a:defRPr lang="en-US" sz="1600" dirty="0">
                <a:solidFill>
                  <a:srgbClr val="16222F"/>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12912"/>
            <a:ext cx="10566400" cy="416471"/>
          </a:xfrm>
          <a:prstGeom prst="rect">
            <a:avLst/>
          </a:prstGeom>
          <a:noFill/>
          <a:ln/>
        </p:spPr>
        <p:txBody>
          <a:bodyPr wrap="square" lIns="0" tIns="0" rIns="0" bIns="0" rtlCol="0" anchor="t"/>
          <a:lstStyle>
            <a:lvl1pPr marL="0" indent="0" algn="l">
              <a:lnSpc>
                <a:spcPct val="115000"/>
              </a:lnSpc>
              <a:buNone/>
              <a:defRPr lang="en-US" sz="2995" dirty="0">
                <a:solidFill>
                  <a:srgbClr val="16222F"/>
                </a:solidFill>
                <a:latin typeface="Arial" pitchFamily="34" charset="0"/>
                <a:ea typeface="Arial" pitchFamily="34" charset="-122"/>
                <a:cs typeface="Arial" pitchFamily="34" charset="-120"/>
              </a:defRPr>
            </a:lvl1pPr>
          </a:lstStyle>
          <a:p>
            <a:pPr marL="0" indent="0" algn="l">
              <a:lnSpc>
                <a:spcPct val="115000"/>
              </a:lnSpc>
              <a:buNone/>
            </a:pPr>
            <a:endParaRPr lang="en-US" sz="2995" dirty="0"/>
          </a:p>
        </p:txBody>
      </p:sp>
      <p:sp>
        <p:nvSpPr>
          <p:cNvPr id="3" name="Text Placeholder 2"/>
          <p:cNvSpPr>
            <a:spLocks noGrp="1"/>
          </p:cNvSpPr>
          <p:nvPr>
            <p:ph type="body" idx="101"/>
          </p:nvPr>
        </p:nvSpPr>
        <p:spPr>
          <a:xfrm>
            <a:off x="812800" y="2034183"/>
            <a:ext cx="10566400" cy="4011017"/>
          </a:xfrm>
          <a:prstGeom prst="rect">
            <a:avLst/>
          </a:prstGeom>
          <a:noFill/>
          <a:ln/>
        </p:spPr>
        <p:txBody>
          <a:bodyPr wrap="square" lIns="0" tIns="0" rIns="0" bIns="0" rtlCol="0" anchor="t"/>
          <a:lstStyle>
            <a:lvl1pPr marL="0" indent="0" algn="l">
              <a:lnSpc>
                <a:spcPct val="140000"/>
              </a:lnSpc>
              <a:buNone/>
              <a:defRPr lang="en-US" sz="1600" dirty="0">
                <a:solidFill>
                  <a:srgbClr val="16222F"/>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ns2="http://schemas.openxmlformats.org/officeDocument/2006/relationships" xmlns:p="http://schemas.openxmlformats.org/presentationml/2006/main">
  <p:cSld name="Slide 1">
    <p:bg>
      <p:bgPr>
        <a:solidFill>
          <a:srgbClr val="13243B"/>
        </a:solidFill>
        <a:effectLst/>
      </p:bgPr>
    </p:bg>
    <p:spTree>
      <p:nvGrpSpPr>
        <p:cNvPr id="1" name=""/>
        <p:cNvGrpSpPr/>
        <p:nvPr/>
      </p:nvGrpSpPr>
      <p:grpSpPr>
        <a:xfrm>
          <a:off x="0" y="0"/>
          <a:ext cx="0" cy="0"/>
          <a:chOff x="0" y="0"/>
          <a:chExt cx="0" cy="0"/>
        </a:xfrm>
      </p:grpSpPr>
      <p:sp>
        <p:nvSpPr>
          <p:cNvPr id="2" name="Text 0"/>
          <p:cNvSpPr/>
          <p:nvPr/>
        </p:nvSpPr>
        <p:spPr>
          <a:xfrm>
            <a:off x="812800" y="812800"/>
            <a:ext cx="9810750" cy="52070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E9A23B"/>
                </a:solidFill>
                <a:latin typeface="Arial" pitchFamily="34" charset="0"/>
                <a:ea typeface="Arial" pitchFamily="34" charset="-122"/>
                <a:cs typeface="Arial" pitchFamily="34" charset="-120"/>
              </a:rPr>
              <a:t>HERRAMIENTAS DE BIG DATA · MAESTRÍA EN ANALÍTICA APLICADA · UNIVERSIDAD DE LA SABANA</a:t>
            </a:r>
            <a:endParaRPr lang="en-US" sz="1400" dirty="0"/>
          </a:p>
        </p:txBody>
      </p:sp>
      <p:pic>
        <p:nvPicPr>
          <p:cNvPr id="3" name="Image 0" descr="line"/>
          <p:cNvPicPr>
            <a:picLocks noChangeAspect="1"/>
          </p:cNvPicPr>
          <p:nvPr/>
        </p:nvPicPr>
        <p:blipFill>
          <a:blip ns2:embed="rId3"/>
          <a:srcRect/>
          <a:stretch/>
        </p:blipFill>
        <p:spPr>
          <a:xfrm>
            <a:off x="812800" y="2038350"/>
            <a:ext cx="1016000" cy="50800"/>
          </a:xfrm>
          <a:prstGeom prst="rect">
            <a:avLst/>
          </a:prstGeom>
        </p:spPr>
      </p:pic>
      <p:sp>
        <p:nvSpPr>
          <p:cNvPr id="4" name="Text 1"/>
          <p:cNvSpPr>
            <a:spLocks noGrp="1"/>
          </p:cNvSpPr>
          <p:nvPr>
            <p:ph type="title"/>
          </p:nvPr>
        </p:nvSpPr>
        <p:spPr>
          <a:xfrm>
            <a:off x="812800" y="2343150"/>
            <a:ext cx="9810750" cy="1511300"/>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5F3EC"/>
                </a:solidFill>
                <a:latin typeface="Arial" pitchFamily="34" charset="0"/>
                <a:ea typeface="Arial" pitchFamily="34" charset="-122"/>
                <a:cs typeface="Arial" pitchFamily="34" charset="-120"/>
              </a:rPr>
              <a:t>Priorización de vuelos con riesgo de retraso</a:t>
            </a:r>
            <a:endParaRPr lang="en-US" sz="5600" dirty="0"/>
          </a:p>
        </p:txBody>
      </p:sp>
      <p:sp>
        <p:nvSpPr>
          <p:cNvPr id="5" name="Text 2"/>
          <p:cNvSpPr/>
          <p:nvPr/>
        </p:nvSpPr>
        <p:spPr>
          <a:xfrm>
            <a:off x="812800" y="4083050"/>
            <a:ext cx="8502650" cy="723900"/>
          </a:xfrm>
          <a:prstGeom prst="rect">
            <a:avLst/>
          </a:prstGeom>
          <a:noFill/>
          <a:ln/>
        </p:spPr>
        <p:txBody>
          <a:bodyPr wrap="square" lIns="0" tIns="0" rIns="0" bIns="0" rtlCol="0" anchor="t">
            <a:normAutofit/>
          </a:bodyPr>
          <a:lstStyle/>
          <a:p>
            <a:pPr marL="0" indent="0" algn="l">
              <a:lnSpc>
                <a:spcPts val="2750"/>
              </a:lnSpc>
              <a:buNone/>
            </a:pPr>
            <a:r>
              <a:rPr lang="en-US" sz="2200" dirty="0">
                <a:solidFill>
                  <a:srgbClr val="B8C4D2"/>
                </a:solidFill>
                <a:latin typeface="Arial" pitchFamily="34" charset="0"/>
                <a:ea typeface="Arial" pitchFamily="34" charset="-122"/>
                <a:cs typeface="Arial" pitchFamily="34" charset="-120"/>
              </a:rPr>
              <a:t>Base recalculada sin 2020: Parquet de 0,679 GB y 23,63 millones de vuelos etiquetados</a:t>
            </a:r>
            <a:endParaRPr lang="en-US" sz="2200" dirty="0"/>
          </a:p>
        </p:txBody>
      </p:sp>
      <p:sp>
        <p:nvSpPr>
          <p:cNvPr id="6" name="Text 3"/>
          <p:cNvSpPr/>
          <p:nvPr/>
        </p:nvSpPr>
        <p:spPr>
          <a:xfrm>
            <a:off x="812800" y="5511800"/>
            <a:ext cx="9810750"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B8C4D2"/>
                </a:solidFill>
                <a:latin typeface="Arial" pitchFamily="34" charset="0"/>
                <a:ea typeface="Arial" pitchFamily="34" charset="-122"/>
                <a:cs typeface="Arial" pitchFamily="34" charset="-120"/>
              </a:rPr>
              <a:t>Angela Liseth Arias Robles · Andres Jose Triana Olivera · Luis Felipe Cangrejo Motta</a:t>
            </a:r>
            <a:endParaRPr lang="en-US" sz="1400" dirty="0"/>
          </a:p>
          <a:p>
            <a:pPr marL="0" indent="0" algn="l">
              <a:lnSpc>
                <a:spcPts val="2100"/>
              </a:lnSpc>
              <a:buNone/>
            </a:pPr>
            <a:r>
              <a:rPr lang="en-US" sz="1400" dirty="0">
                <a:solidFill>
                  <a:srgbClr val="B8C4D2"/>
                </a:solidFill>
                <a:latin typeface="Arial" pitchFamily="34" charset="0"/>
                <a:ea typeface="Arial" pitchFamily="34" charset="-122"/>
                <a:cs typeface="Arial" pitchFamily="34" charset="-120"/>
              </a:rPr>
              <a:t>8 de octubre de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63327"/>
          </a:xfrm>
          <a:prstGeom prst="rect">
            <a:avLst/>
          </a:prstGeom>
          <a:noFill/>
          <a:ln/>
        </p:spPr>
        <p:txBody>
          <a:bodyPr wrap="square" lIns="0" tIns="0" rIns="0" bIns="0" rtlCol="0" anchor="t">
            <a:normAutofit/>
          </a:bodyPr>
          <a:lstStyle/>
          <a:p>
            <a:pPr marL="0" indent="0" algn="l">
              <a:lnSpc>
                <a:spcPts val="1899"/>
              </a:lnSpc>
              <a:buNone/>
            </a:pPr>
            <a:r>
              <a:rPr lang="en-US" sz="1356" b="1" kern="0" spc="100" dirty="0">
                <a:solidFill>
                  <a:srgbClr val="176B7B"/>
                </a:solidFill>
                <a:latin typeface="Arial" pitchFamily="34" charset="0"/>
                <a:ea typeface="Arial" pitchFamily="34" charset="-122"/>
                <a:cs typeface="Arial" pitchFamily="34" charset="-120"/>
              </a:rPr>
              <a:t>1 · EL PROBLEMA</a:t>
            </a:r>
            <a:endParaRPr lang="en-US" sz="1356" dirty="0"/>
          </a:p>
        </p:txBody>
      </p:sp>
      <p:sp>
        <p:nvSpPr>
          <p:cNvPr id="3" name="Text 1"/>
          <p:cNvSpPr>
            <a:spLocks noGrp="1"/>
          </p:cNvSpPr>
          <p:nvPr>
            <p:ph type="title"/>
          </p:nvPr>
        </p:nvSpPr>
        <p:spPr>
          <a:xfrm>
            <a:off x="812800" y="1304727"/>
            <a:ext cx="10883392" cy="428129"/>
          </a:xfrm>
          <a:prstGeom prst="rect">
            <a:avLst/>
          </a:prstGeom>
          <a:noFill/>
          <a:ln/>
        </p:spPr>
        <p:txBody>
          <a:bodyPr wrap="square" lIns="0" tIns="0" rIns="0" bIns="0" rtlCol="0" anchor="t">
            <a:normAutofit/>
          </a:bodyPr>
          <a:lstStyle/>
          <a:p>
            <a:pPr marL="0" indent="0" algn="l">
              <a:lnSpc>
                <a:spcPts val="3197"/>
              </a:lnSpc>
              <a:buNone/>
            </a:pPr>
            <a:r>
              <a:rPr lang="en-US" sz="2906" b="1" i="0" dirty="0">
                <a:solidFill>
                  <a:srgbClr val="16222F"/>
                </a:solidFill>
                <a:latin typeface="Arial" pitchFamily="34" charset="0"/>
                <a:ea typeface="Arial" pitchFamily="34" charset="-122"/>
                <a:cs typeface="Arial" pitchFamily="34" charset="-120"/>
              </a:rPr>
              <a:t>Todos los vuelos reciben una puntuación de riesgo</a:t>
            </a:r>
            <a:endParaRPr lang="en-US" sz="2906" dirty="0"/>
          </a:p>
        </p:txBody>
      </p:sp>
      <p:sp>
        <p:nvSpPr>
          <p:cNvPr id="4" name="Shape 2"/>
          <p:cNvSpPr/>
          <p:nvPr/>
        </p:nvSpPr>
        <p:spPr>
          <a:xfrm>
            <a:off x="812800" y="1961455"/>
            <a:ext cx="228600" cy="228600"/>
          </a:xfrm>
          <a:prstGeom prst="roundRect">
            <a:avLst>
              <a:gd name="adj" fmla="val 50000"/>
            </a:avLst>
          </a:prstGeom>
          <a:solidFill>
            <a:srgbClr val="CFCBBE"/>
          </a:solidFill>
          <a:ln/>
        </p:spPr>
        <p:txBody>
          <a:bodyPr/>
          <a:lstStyle/>
          <a:p>
            <a:endParaRPr lang="es-CO"/>
          </a:p>
        </p:txBody>
      </p:sp>
      <p:sp>
        <p:nvSpPr>
          <p:cNvPr id="5" name="Shape 3"/>
          <p:cNvSpPr/>
          <p:nvPr/>
        </p:nvSpPr>
        <p:spPr>
          <a:xfrm>
            <a:off x="1117600" y="1961455"/>
            <a:ext cx="228600" cy="228600"/>
          </a:xfrm>
          <a:prstGeom prst="roundRect">
            <a:avLst>
              <a:gd name="adj" fmla="val 50000"/>
            </a:avLst>
          </a:prstGeom>
          <a:solidFill>
            <a:srgbClr val="CFCBBE"/>
          </a:solidFill>
          <a:ln/>
        </p:spPr>
        <p:txBody>
          <a:bodyPr/>
          <a:lstStyle/>
          <a:p>
            <a:endParaRPr lang="es-CO"/>
          </a:p>
        </p:txBody>
      </p:sp>
      <p:sp>
        <p:nvSpPr>
          <p:cNvPr id="6" name="Shape 4"/>
          <p:cNvSpPr/>
          <p:nvPr/>
        </p:nvSpPr>
        <p:spPr>
          <a:xfrm>
            <a:off x="1422400" y="1961455"/>
            <a:ext cx="228600" cy="228600"/>
          </a:xfrm>
          <a:prstGeom prst="roundRect">
            <a:avLst>
              <a:gd name="adj" fmla="val 50000"/>
            </a:avLst>
          </a:prstGeom>
          <a:solidFill>
            <a:srgbClr val="CFCBBE"/>
          </a:solidFill>
          <a:ln/>
        </p:spPr>
        <p:txBody>
          <a:bodyPr/>
          <a:lstStyle/>
          <a:p>
            <a:endParaRPr lang="es-CO"/>
          </a:p>
        </p:txBody>
      </p:sp>
      <p:sp>
        <p:nvSpPr>
          <p:cNvPr id="7" name="Shape 5"/>
          <p:cNvSpPr/>
          <p:nvPr/>
        </p:nvSpPr>
        <p:spPr>
          <a:xfrm>
            <a:off x="1727200" y="1961455"/>
            <a:ext cx="228600" cy="228600"/>
          </a:xfrm>
          <a:prstGeom prst="roundRect">
            <a:avLst>
              <a:gd name="adj" fmla="val 50000"/>
            </a:avLst>
          </a:prstGeom>
          <a:solidFill>
            <a:srgbClr val="E9A23B"/>
          </a:solidFill>
          <a:ln/>
        </p:spPr>
        <p:txBody>
          <a:bodyPr/>
          <a:lstStyle/>
          <a:p>
            <a:endParaRPr lang="es-CO"/>
          </a:p>
        </p:txBody>
      </p:sp>
      <p:sp>
        <p:nvSpPr>
          <p:cNvPr id="8" name="Shape 6"/>
          <p:cNvSpPr/>
          <p:nvPr/>
        </p:nvSpPr>
        <p:spPr>
          <a:xfrm>
            <a:off x="2032000" y="1961455"/>
            <a:ext cx="228600" cy="228600"/>
          </a:xfrm>
          <a:prstGeom prst="roundRect">
            <a:avLst>
              <a:gd name="adj" fmla="val 50000"/>
            </a:avLst>
          </a:prstGeom>
          <a:solidFill>
            <a:srgbClr val="CFCBBE"/>
          </a:solidFill>
          <a:ln/>
        </p:spPr>
        <p:txBody>
          <a:bodyPr/>
          <a:lstStyle/>
          <a:p>
            <a:endParaRPr lang="es-CO"/>
          </a:p>
        </p:txBody>
      </p:sp>
      <p:sp>
        <p:nvSpPr>
          <p:cNvPr id="9" name="Shape 7"/>
          <p:cNvSpPr/>
          <p:nvPr/>
        </p:nvSpPr>
        <p:spPr>
          <a:xfrm>
            <a:off x="2336800" y="1961455"/>
            <a:ext cx="228600" cy="228600"/>
          </a:xfrm>
          <a:prstGeom prst="roundRect">
            <a:avLst>
              <a:gd name="adj" fmla="val 50000"/>
            </a:avLst>
          </a:prstGeom>
          <a:solidFill>
            <a:srgbClr val="CFCBBE"/>
          </a:solidFill>
          <a:ln/>
        </p:spPr>
        <p:txBody>
          <a:bodyPr/>
          <a:lstStyle/>
          <a:p>
            <a:endParaRPr lang="es-CO"/>
          </a:p>
        </p:txBody>
      </p:sp>
      <p:sp>
        <p:nvSpPr>
          <p:cNvPr id="10" name="Shape 8"/>
          <p:cNvSpPr/>
          <p:nvPr/>
        </p:nvSpPr>
        <p:spPr>
          <a:xfrm>
            <a:off x="2641600" y="1961455"/>
            <a:ext cx="228600" cy="228600"/>
          </a:xfrm>
          <a:prstGeom prst="roundRect">
            <a:avLst>
              <a:gd name="adj" fmla="val 50000"/>
            </a:avLst>
          </a:prstGeom>
          <a:solidFill>
            <a:srgbClr val="CFCBBE"/>
          </a:solidFill>
          <a:ln/>
        </p:spPr>
        <p:txBody>
          <a:bodyPr/>
          <a:lstStyle/>
          <a:p>
            <a:endParaRPr lang="es-CO"/>
          </a:p>
        </p:txBody>
      </p:sp>
      <p:sp>
        <p:nvSpPr>
          <p:cNvPr id="11" name="Shape 9"/>
          <p:cNvSpPr/>
          <p:nvPr/>
        </p:nvSpPr>
        <p:spPr>
          <a:xfrm>
            <a:off x="2946400" y="1961455"/>
            <a:ext cx="228600" cy="228600"/>
          </a:xfrm>
          <a:prstGeom prst="roundRect">
            <a:avLst>
              <a:gd name="adj" fmla="val 50000"/>
            </a:avLst>
          </a:prstGeom>
          <a:solidFill>
            <a:srgbClr val="CFCBBE"/>
          </a:solidFill>
          <a:ln/>
        </p:spPr>
        <p:txBody>
          <a:bodyPr/>
          <a:lstStyle/>
          <a:p>
            <a:endParaRPr lang="es-CO"/>
          </a:p>
        </p:txBody>
      </p:sp>
      <p:sp>
        <p:nvSpPr>
          <p:cNvPr id="12" name="Shape 10"/>
          <p:cNvSpPr/>
          <p:nvPr/>
        </p:nvSpPr>
        <p:spPr>
          <a:xfrm>
            <a:off x="3251200" y="1961455"/>
            <a:ext cx="228600" cy="228600"/>
          </a:xfrm>
          <a:prstGeom prst="roundRect">
            <a:avLst>
              <a:gd name="adj" fmla="val 50000"/>
            </a:avLst>
          </a:prstGeom>
          <a:solidFill>
            <a:srgbClr val="CFCBBE"/>
          </a:solidFill>
          <a:ln/>
        </p:spPr>
        <p:txBody>
          <a:bodyPr/>
          <a:lstStyle/>
          <a:p>
            <a:endParaRPr lang="es-CO"/>
          </a:p>
        </p:txBody>
      </p:sp>
      <p:sp>
        <p:nvSpPr>
          <p:cNvPr id="13" name="Shape 11"/>
          <p:cNvSpPr/>
          <p:nvPr/>
        </p:nvSpPr>
        <p:spPr>
          <a:xfrm>
            <a:off x="3556000" y="1961455"/>
            <a:ext cx="228600" cy="228600"/>
          </a:xfrm>
          <a:prstGeom prst="roundRect">
            <a:avLst>
              <a:gd name="adj" fmla="val 50000"/>
            </a:avLst>
          </a:prstGeom>
          <a:solidFill>
            <a:srgbClr val="E9A23B"/>
          </a:solidFill>
          <a:ln/>
        </p:spPr>
        <p:txBody>
          <a:bodyPr/>
          <a:lstStyle/>
          <a:p>
            <a:endParaRPr lang="es-CO"/>
          </a:p>
        </p:txBody>
      </p:sp>
      <p:sp>
        <p:nvSpPr>
          <p:cNvPr id="14" name="Shape 12"/>
          <p:cNvSpPr/>
          <p:nvPr/>
        </p:nvSpPr>
        <p:spPr>
          <a:xfrm>
            <a:off x="812800" y="2266255"/>
            <a:ext cx="228600" cy="228600"/>
          </a:xfrm>
          <a:prstGeom prst="roundRect">
            <a:avLst>
              <a:gd name="adj" fmla="val 50000"/>
            </a:avLst>
          </a:prstGeom>
          <a:solidFill>
            <a:srgbClr val="CFCBBE"/>
          </a:solidFill>
          <a:ln/>
        </p:spPr>
        <p:txBody>
          <a:bodyPr/>
          <a:lstStyle/>
          <a:p>
            <a:endParaRPr lang="es-CO"/>
          </a:p>
        </p:txBody>
      </p:sp>
      <p:sp>
        <p:nvSpPr>
          <p:cNvPr id="15" name="Shape 13"/>
          <p:cNvSpPr/>
          <p:nvPr/>
        </p:nvSpPr>
        <p:spPr>
          <a:xfrm>
            <a:off x="1117600" y="2266255"/>
            <a:ext cx="228600" cy="228600"/>
          </a:xfrm>
          <a:prstGeom prst="roundRect">
            <a:avLst>
              <a:gd name="adj" fmla="val 50000"/>
            </a:avLst>
          </a:prstGeom>
          <a:solidFill>
            <a:srgbClr val="CFCBBE"/>
          </a:solidFill>
          <a:ln/>
        </p:spPr>
        <p:txBody>
          <a:bodyPr/>
          <a:lstStyle/>
          <a:p>
            <a:endParaRPr lang="es-CO"/>
          </a:p>
        </p:txBody>
      </p:sp>
      <p:sp>
        <p:nvSpPr>
          <p:cNvPr id="16" name="Shape 14"/>
          <p:cNvSpPr/>
          <p:nvPr/>
        </p:nvSpPr>
        <p:spPr>
          <a:xfrm>
            <a:off x="1422400" y="2266255"/>
            <a:ext cx="228600" cy="228600"/>
          </a:xfrm>
          <a:prstGeom prst="roundRect">
            <a:avLst>
              <a:gd name="adj" fmla="val 50000"/>
            </a:avLst>
          </a:prstGeom>
          <a:solidFill>
            <a:srgbClr val="CFCBBE"/>
          </a:solidFill>
          <a:ln/>
        </p:spPr>
        <p:txBody>
          <a:bodyPr/>
          <a:lstStyle/>
          <a:p>
            <a:endParaRPr lang="es-CO"/>
          </a:p>
        </p:txBody>
      </p:sp>
      <p:sp>
        <p:nvSpPr>
          <p:cNvPr id="17" name="Shape 15"/>
          <p:cNvSpPr/>
          <p:nvPr/>
        </p:nvSpPr>
        <p:spPr>
          <a:xfrm>
            <a:off x="1727200" y="2266255"/>
            <a:ext cx="228600" cy="228600"/>
          </a:xfrm>
          <a:prstGeom prst="roundRect">
            <a:avLst>
              <a:gd name="adj" fmla="val 50000"/>
            </a:avLst>
          </a:prstGeom>
          <a:solidFill>
            <a:srgbClr val="CFCBBE"/>
          </a:solidFill>
          <a:ln/>
        </p:spPr>
        <p:txBody>
          <a:bodyPr/>
          <a:lstStyle/>
          <a:p>
            <a:endParaRPr lang="es-CO"/>
          </a:p>
        </p:txBody>
      </p:sp>
      <p:sp>
        <p:nvSpPr>
          <p:cNvPr id="18" name="Shape 16"/>
          <p:cNvSpPr/>
          <p:nvPr/>
        </p:nvSpPr>
        <p:spPr>
          <a:xfrm>
            <a:off x="2032000" y="2266255"/>
            <a:ext cx="228600" cy="228600"/>
          </a:xfrm>
          <a:prstGeom prst="roundRect">
            <a:avLst>
              <a:gd name="adj" fmla="val 50000"/>
            </a:avLst>
          </a:prstGeom>
          <a:solidFill>
            <a:srgbClr val="E9A23B"/>
          </a:solidFill>
          <a:ln/>
        </p:spPr>
        <p:txBody>
          <a:bodyPr/>
          <a:lstStyle/>
          <a:p>
            <a:endParaRPr lang="es-CO"/>
          </a:p>
        </p:txBody>
      </p:sp>
      <p:sp>
        <p:nvSpPr>
          <p:cNvPr id="19" name="Shape 17"/>
          <p:cNvSpPr/>
          <p:nvPr/>
        </p:nvSpPr>
        <p:spPr>
          <a:xfrm>
            <a:off x="2336800" y="2266255"/>
            <a:ext cx="228600" cy="228600"/>
          </a:xfrm>
          <a:prstGeom prst="roundRect">
            <a:avLst>
              <a:gd name="adj" fmla="val 50000"/>
            </a:avLst>
          </a:prstGeom>
          <a:solidFill>
            <a:srgbClr val="CFCBBE"/>
          </a:solidFill>
          <a:ln/>
        </p:spPr>
        <p:txBody>
          <a:bodyPr/>
          <a:lstStyle/>
          <a:p>
            <a:endParaRPr lang="es-CO"/>
          </a:p>
        </p:txBody>
      </p:sp>
      <p:sp>
        <p:nvSpPr>
          <p:cNvPr id="20" name="Shape 18"/>
          <p:cNvSpPr/>
          <p:nvPr/>
        </p:nvSpPr>
        <p:spPr>
          <a:xfrm>
            <a:off x="2641600" y="2266255"/>
            <a:ext cx="228600" cy="228600"/>
          </a:xfrm>
          <a:prstGeom prst="roundRect">
            <a:avLst>
              <a:gd name="adj" fmla="val 50000"/>
            </a:avLst>
          </a:prstGeom>
          <a:solidFill>
            <a:srgbClr val="CFCBBE"/>
          </a:solidFill>
          <a:ln/>
        </p:spPr>
        <p:txBody>
          <a:bodyPr/>
          <a:lstStyle/>
          <a:p>
            <a:endParaRPr lang="es-CO"/>
          </a:p>
        </p:txBody>
      </p:sp>
      <p:sp>
        <p:nvSpPr>
          <p:cNvPr id="21" name="Shape 19"/>
          <p:cNvSpPr/>
          <p:nvPr/>
        </p:nvSpPr>
        <p:spPr>
          <a:xfrm>
            <a:off x="2946400" y="2266255"/>
            <a:ext cx="228600" cy="228600"/>
          </a:xfrm>
          <a:prstGeom prst="roundRect">
            <a:avLst>
              <a:gd name="adj" fmla="val 50000"/>
            </a:avLst>
          </a:prstGeom>
          <a:solidFill>
            <a:srgbClr val="CFCBBE"/>
          </a:solidFill>
          <a:ln/>
        </p:spPr>
        <p:txBody>
          <a:bodyPr/>
          <a:lstStyle/>
          <a:p>
            <a:endParaRPr lang="es-CO"/>
          </a:p>
        </p:txBody>
      </p:sp>
      <p:sp>
        <p:nvSpPr>
          <p:cNvPr id="22" name="Shape 20"/>
          <p:cNvSpPr/>
          <p:nvPr/>
        </p:nvSpPr>
        <p:spPr>
          <a:xfrm>
            <a:off x="3251200" y="2266255"/>
            <a:ext cx="228600" cy="228600"/>
          </a:xfrm>
          <a:prstGeom prst="roundRect">
            <a:avLst>
              <a:gd name="adj" fmla="val 50000"/>
            </a:avLst>
          </a:prstGeom>
          <a:solidFill>
            <a:srgbClr val="CFCBBE"/>
          </a:solidFill>
          <a:ln/>
        </p:spPr>
        <p:txBody>
          <a:bodyPr/>
          <a:lstStyle/>
          <a:p>
            <a:endParaRPr lang="es-CO"/>
          </a:p>
        </p:txBody>
      </p:sp>
      <p:sp>
        <p:nvSpPr>
          <p:cNvPr id="23" name="Shape 21"/>
          <p:cNvSpPr/>
          <p:nvPr/>
        </p:nvSpPr>
        <p:spPr>
          <a:xfrm>
            <a:off x="3556000" y="2266255"/>
            <a:ext cx="228600" cy="228600"/>
          </a:xfrm>
          <a:prstGeom prst="roundRect">
            <a:avLst>
              <a:gd name="adj" fmla="val 50000"/>
            </a:avLst>
          </a:prstGeom>
          <a:solidFill>
            <a:srgbClr val="CFCBBE"/>
          </a:solidFill>
          <a:ln/>
        </p:spPr>
        <p:txBody>
          <a:bodyPr/>
          <a:lstStyle/>
          <a:p>
            <a:endParaRPr lang="es-CO"/>
          </a:p>
        </p:txBody>
      </p:sp>
      <p:sp>
        <p:nvSpPr>
          <p:cNvPr id="24" name="Shape 22"/>
          <p:cNvSpPr/>
          <p:nvPr/>
        </p:nvSpPr>
        <p:spPr>
          <a:xfrm>
            <a:off x="812800" y="2571055"/>
            <a:ext cx="228600" cy="228600"/>
          </a:xfrm>
          <a:prstGeom prst="roundRect">
            <a:avLst>
              <a:gd name="adj" fmla="val 50000"/>
            </a:avLst>
          </a:prstGeom>
          <a:solidFill>
            <a:srgbClr val="CFCBBE"/>
          </a:solidFill>
          <a:ln/>
        </p:spPr>
        <p:txBody>
          <a:bodyPr/>
          <a:lstStyle/>
          <a:p>
            <a:endParaRPr lang="es-CO"/>
          </a:p>
        </p:txBody>
      </p:sp>
      <p:sp>
        <p:nvSpPr>
          <p:cNvPr id="25" name="Shape 23"/>
          <p:cNvSpPr/>
          <p:nvPr/>
        </p:nvSpPr>
        <p:spPr>
          <a:xfrm>
            <a:off x="1117600" y="2571055"/>
            <a:ext cx="228600" cy="228600"/>
          </a:xfrm>
          <a:prstGeom prst="roundRect">
            <a:avLst>
              <a:gd name="adj" fmla="val 50000"/>
            </a:avLst>
          </a:prstGeom>
          <a:solidFill>
            <a:srgbClr val="E9A23B"/>
          </a:solidFill>
          <a:ln/>
        </p:spPr>
        <p:txBody>
          <a:bodyPr/>
          <a:lstStyle/>
          <a:p>
            <a:endParaRPr lang="es-CO"/>
          </a:p>
        </p:txBody>
      </p:sp>
      <p:sp>
        <p:nvSpPr>
          <p:cNvPr id="26" name="Shape 24"/>
          <p:cNvSpPr/>
          <p:nvPr/>
        </p:nvSpPr>
        <p:spPr>
          <a:xfrm>
            <a:off x="1422400" y="2571055"/>
            <a:ext cx="228600" cy="228600"/>
          </a:xfrm>
          <a:prstGeom prst="roundRect">
            <a:avLst>
              <a:gd name="adj" fmla="val 50000"/>
            </a:avLst>
          </a:prstGeom>
          <a:solidFill>
            <a:srgbClr val="CFCBBE"/>
          </a:solidFill>
          <a:ln/>
        </p:spPr>
        <p:txBody>
          <a:bodyPr/>
          <a:lstStyle/>
          <a:p>
            <a:endParaRPr lang="es-CO"/>
          </a:p>
        </p:txBody>
      </p:sp>
      <p:sp>
        <p:nvSpPr>
          <p:cNvPr id="27" name="Shape 25"/>
          <p:cNvSpPr/>
          <p:nvPr/>
        </p:nvSpPr>
        <p:spPr>
          <a:xfrm>
            <a:off x="1727200" y="2571055"/>
            <a:ext cx="228600" cy="228600"/>
          </a:xfrm>
          <a:prstGeom prst="roundRect">
            <a:avLst>
              <a:gd name="adj" fmla="val 50000"/>
            </a:avLst>
          </a:prstGeom>
          <a:solidFill>
            <a:srgbClr val="CFCBBE"/>
          </a:solidFill>
          <a:ln/>
        </p:spPr>
        <p:txBody>
          <a:bodyPr/>
          <a:lstStyle/>
          <a:p>
            <a:endParaRPr lang="es-CO"/>
          </a:p>
        </p:txBody>
      </p:sp>
      <p:sp>
        <p:nvSpPr>
          <p:cNvPr id="28" name="Shape 26"/>
          <p:cNvSpPr/>
          <p:nvPr/>
        </p:nvSpPr>
        <p:spPr>
          <a:xfrm>
            <a:off x="2032000" y="2571055"/>
            <a:ext cx="228600" cy="228600"/>
          </a:xfrm>
          <a:prstGeom prst="roundRect">
            <a:avLst>
              <a:gd name="adj" fmla="val 50000"/>
            </a:avLst>
          </a:prstGeom>
          <a:solidFill>
            <a:srgbClr val="CFCBBE"/>
          </a:solidFill>
          <a:ln/>
        </p:spPr>
        <p:txBody>
          <a:bodyPr/>
          <a:lstStyle/>
          <a:p>
            <a:endParaRPr lang="es-CO"/>
          </a:p>
        </p:txBody>
      </p:sp>
      <p:sp>
        <p:nvSpPr>
          <p:cNvPr id="29" name="Shape 27"/>
          <p:cNvSpPr/>
          <p:nvPr/>
        </p:nvSpPr>
        <p:spPr>
          <a:xfrm>
            <a:off x="2336800" y="2571055"/>
            <a:ext cx="228600" cy="228600"/>
          </a:xfrm>
          <a:prstGeom prst="roundRect">
            <a:avLst>
              <a:gd name="adj" fmla="val 50000"/>
            </a:avLst>
          </a:prstGeom>
          <a:solidFill>
            <a:srgbClr val="CFCBBE"/>
          </a:solidFill>
          <a:ln/>
        </p:spPr>
        <p:txBody>
          <a:bodyPr/>
          <a:lstStyle/>
          <a:p>
            <a:endParaRPr lang="es-CO"/>
          </a:p>
        </p:txBody>
      </p:sp>
      <p:sp>
        <p:nvSpPr>
          <p:cNvPr id="30" name="Shape 28"/>
          <p:cNvSpPr/>
          <p:nvPr/>
        </p:nvSpPr>
        <p:spPr>
          <a:xfrm>
            <a:off x="2641600" y="2571055"/>
            <a:ext cx="228600" cy="228600"/>
          </a:xfrm>
          <a:prstGeom prst="roundRect">
            <a:avLst>
              <a:gd name="adj" fmla="val 50000"/>
            </a:avLst>
          </a:prstGeom>
          <a:solidFill>
            <a:srgbClr val="CFCBBE"/>
          </a:solidFill>
          <a:ln/>
        </p:spPr>
        <p:txBody>
          <a:bodyPr/>
          <a:lstStyle/>
          <a:p>
            <a:endParaRPr lang="es-CO"/>
          </a:p>
        </p:txBody>
      </p:sp>
      <p:sp>
        <p:nvSpPr>
          <p:cNvPr id="31" name="Shape 29"/>
          <p:cNvSpPr/>
          <p:nvPr/>
        </p:nvSpPr>
        <p:spPr>
          <a:xfrm>
            <a:off x="2946400" y="2571055"/>
            <a:ext cx="228600" cy="228600"/>
          </a:xfrm>
          <a:prstGeom prst="roundRect">
            <a:avLst>
              <a:gd name="adj" fmla="val 50000"/>
            </a:avLst>
          </a:prstGeom>
          <a:solidFill>
            <a:srgbClr val="E9A23B"/>
          </a:solidFill>
          <a:ln/>
        </p:spPr>
        <p:txBody>
          <a:bodyPr/>
          <a:lstStyle/>
          <a:p>
            <a:endParaRPr lang="es-CO"/>
          </a:p>
        </p:txBody>
      </p:sp>
      <p:sp>
        <p:nvSpPr>
          <p:cNvPr id="32" name="Shape 30"/>
          <p:cNvSpPr/>
          <p:nvPr/>
        </p:nvSpPr>
        <p:spPr>
          <a:xfrm>
            <a:off x="3251200" y="2571055"/>
            <a:ext cx="228600" cy="228600"/>
          </a:xfrm>
          <a:prstGeom prst="roundRect">
            <a:avLst>
              <a:gd name="adj" fmla="val 50000"/>
            </a:avLst>
          </a:prstGeom>
          <a:solidFill>
            <a:srgbClr val="CFCBBE"/>
          </a:solidFill>
          <a:ln/>
        </p:spPr>
        <p:txBody>
          <a:bodyPr/>
          <a:lstStyle/>
          <a:p>
            <a:endParaRPr lang="es-CO"/>
          </a:p>
        </p:txBody>
      </p:sp>
      <p:sp>
        <p:nvSpPr>
          <p:cNvPr id="33" name="Shape 31"/>
          <p:cNvSpPr/>
          <p:nvPr/>
        </p:nvSpPr>
        <p:spPr>
          <a:xfrm>
            <a:off x="3556000" y="2571055"/>
            <a:ext cx="228600" cy="228600"/>
          </a:xfrm>
          <a:prstGeom prst="roundRect">
            <a:avLst>
              <a:gd name="adj" fmla="val 50000"/>
            </a:avLst>
          </a:prstGeom>
          <a:solidFill>
            <a:srgbClr val="CFCBBE"/>
          </a:solidFill>
          <a:ln/>
        </p:spPr>
        <p:txBody>
          <a:bodyPr/>
          <a:lstStyle/>
          <a:p>
            <a:endParaRPr lang="es-CO"/>
          </a:p>
        </p:txBody>
      </p:sp>
      <p:sp>
        <p:nvSpPr>
          <p:cNvPr id="34" name="Shape 32"/>
          <p:cNvSpPr/>
          <p:nvPr/>
        </p:nvSpPr>
        <p:spPr>
          <a:xfrm>
            <a:off x="812800" y="2875855"/>
            <a:ext cx="228600" cy="228600"/>
          </a:xfrm>
          <a:prstGeom prst="roundRect">
            <a:avLst>
              <a:gd name="adj" fmla="val 50000"/>
            </a:avLst>
          </a:prstGeom>
          <a:solidFill>
            <a:srgbClr val="CFCBBE"/>
          </a:solidFill>
          <a:ln/>
        </p:spPr>
        <p:txBody>
          <a:bodyPr/>
          <a:lstStyle/>
          <a:p>
            <a:endParaRPr lang="es-CO"/>
          </a:p>
        </p:txBody>
      </p:sp>
      <p:sp>
        <p:nvSpPr>
          <p:cNvPr id="35" name="Shape 33"/>
          <p:cNvSpPr/>
          <p:nvPr/>
        </p:nvSpPr>
        <p:spPr>
          <a:xfrm>
            <a:off x="1117600" y="2875855"/>
            <a:ext cx="228600" cy="228600"/>
          </a:xfrm>
          <a:prstGeom prst="roundRect">
            <a:avLst>
              <a:gd name="adj" fmla="val 50000"/>
            </a:avLst>
          </a:prstGeom>
          <a:solidFill>
            <a:srgbClr val="CFCBBE"/>
          </a:solidFill>
          <a:ln/>
        </p:spPr>
        <p:txBody>
          <a:bodyPr/>
          <a:lstStyle/>
          <a:p>
            <a:endParaRPr lang="es-CO"/>
          </a:p>
        </p:txBody>
      </p:sp>
      <p:sp>
        <p:nvSpPr>
          <p:cNvPr id="36" name="Shape 34"/>
          <p:cNvSpPr/>
          <p:nvPr/>
        </p:nvSpPr>
        <p:spPr>
          <a:xfrm>
            <a:off x="1422400" y="2875855"/>
            <a:ext cx="228600" cy="228600"/>
          </a:xfrm>
          <a:prstGeom prst="roundRect">
            <a:avLst>
              <a:gd name="adj" fmla="val 50000"/>
            </a:avLst>
          </a:prstGeom>
          <a:solidFill>
            <a:srgbClr val="E9A23B"/>
          </a:solidFill>
          <a:ln/>
        </p:spPr>
        <p:txBody>
          <a:bodyPr/>
          <a:lstStyle/>
          <a:p>
            <a:endParaRPr lang="es-CO"/>
          </a:p>
        </p:txBody>
      </p:sp>
      <p:sp>
        <p:nvSpPr>
          <p:cNvPr id="37" name="Shape 35"/>
          <p:cNvSpPr/>
          <p:nvPr/>
        </p:nvSpPr>
        <p:spPr>
          <a:xfrm>
            <a:off x="1727200" y="2875855"/>
            <a:ext cx="228600" cy="228600"/>
          </a:xfrm>
          <a:prstGeom prst="roundRect">
            <a:avLst>
              <a:gd name="adj" fmla="val 50000"/>
            </a:avLst>
          </a:prstGeom>
          <a:solidFill>
            <a:srgbClr val="CFCBBE"/>
          </a:solidFill>
          <a:ln/>
        </p:spPr>
        <p:txBody>
          <a:bodyPr/>
          <a:lstStyle/>
          <a:p>
            <a:endParaRPr lang="es-CO"/>
          </a:p>
        </p:txBody>
      </p:sp>
      <p:sp>
        <p:nvSpPr>
          <p:cNvPr id="38" name="Shape 36"/>
          <p:cNvSpPr/>
          <p:nvPr/>
        </p:nvSpPr>
        <p:spPr>
          <a:xfrm>
            <a:off x="2032000" y="2875855"/>
            <a:ext cx="228600" cy="228600"/>
          </a:xfrm>
          <a:prstGeom prst="roundRect">
            <a:avLst>
              <a:gd name="adj" fmla="val 50000"/>
            </a:avLst>
          </a:prstGeom>
          <a:solidFill>
            <a:srgbClr val="CFCBBE"/>
          </a:solidFill>
          <a:ln/>
        </p:spPr>
        <p:txBody>
          <a:bodyPr/>
          <a:lstStyle/>
          <a:p>
            <a:endParaRPr lang="es-CO"/>
          </a:p>
        </p:txBody>
      </p:sp>
      <p:sp>
        <p:nvSpPr>
          <p:cNvPr id="39" name="Shape 37"/>
          <p:cNvSpPr/>
          <p:nvPr/>
        </p:nvSpPr>
        <p:spPr>
          <a:xfrm>
            <a:off x="2336800" y="2875855"/>
            <a:ext cx="228600" cy="228600"/>
          </a:xfrm>
          <a:prstGeom prst="roundRect">
            <a:avLst>
              <a:gd name="adj" fmla="val 50000"/>
            </a:avLst>
          </a:prstGeom>
          <a:solidFill>
            <a:srgbClr val="CFCBBE"/>
          </a:solidFill>
          <a:ln/>
        </p:spPr>
        <p:txBody>
          <a:bodyPr/>
          <a:lstStyle/>
          <a:p>
            <a:endParaRPr lang="es-CO"/>
          </a:p>
        </p:txBody>
      </p:sp>
      <p:sp>
        <p:nvSpPr>
          <p:cNvPr id="40" name="Shape 38"/>
          <p:cNvSpPr/>
          <p:nvPr/>
        </p:nvSpPr>
        <p:spPr>
          <a:xfrm>
            <a:off x="2641600" y="2875855"/>
            <a:ext cx="228600" cy="228600"/>
          </a:xfrm>
          <a:prstGeom prst="roundRect">
            <a:avLst>
              <a:gd name="adj" fmla="val 50000"/>
            </a:avLst>
          </a:prstGeom>
          <a:solidFill>
            <a:srgbClr val="CFCBBE"/>
          </a:solidFill>
          <a:ln/>
        </p:spPr>
        <p:txBody>
          <a:bodyPr/>
          <a:lstStyle/>
          <a:p>
            <a:endParaRPr lang="es-CO"/>
          </a:p>
        </p:txBody>
      </p:sp>
      <p:sp>
        <p:nvSpPr>
          <p:cNvPr id="41" name="Shape 39"/>
          <p:cNvSpPr/>
          <p:nvPr/>
        </p:nvSpPr>
        <p:spPr>
          <a:xfrm>
            <a:off x="2946400" y="2875855"/>
            <a:ext cx="228600" cy="228600"/>
          </a:xfrm>
          <a:prstGeom prst="roundRect">
            <a:avLst>
              <a:gd name="adj" fmla="val 50000"/>
            </a:avLst>
          </a:prstGeom>
          <a:solidFill>
            <a:srgbClr val="CFCBBE"/>
          </a:solidFill>
          <a:ln/>
        </p:spPr>
        <p:txBody>
          <a:bodyPr/>
          <a:lstStyle/>
          <a:p>
            <a:endParaRPr lang="es-CO"/>
          </a:p>
        </p:txBody>
      </p:sp>
      <p:sp>
        <p:nvSpPr>
          <p:cNvPr id="42" name="Shape 40"/>
          <p:cNvSpPr/>
          <p:nvPr/>
        </p:nvSpPr>
        <p:spPr>
          <a:xfrm>
            <a:off x="3251200" y="2875855"/>
            <a:ext cx="228600" cy="228600"/>
          </a:xfrm>
          <a:prstGeom prst="roundRect">
            <a:avLst>
              <a:gd name="adj" fmla="val 50000"/>
            </a:avLst>
          </a:prstGeom>
          <a:solidFill>
            <a:srgbClr val="CFCBBE"/>
          </a:solidFill>
          <a:ln/>
        </p:spPr>
        <p:txBody>
          <a:bodyPr/>
          <a:lstStyle/>
          <a:p>
            <a:endParaRPr lang="es-CO"/>
          </a:p>
        </p:txBody>
      </p:sp>
      <p:sp>
        <p:nvSpPr>
          <p:cNvPr id="43" name="Shape 41"/>
          <p:cNvSpPr/>
          <p:nvPr/>
        </p:nvSpPr>
        <p:spPr>
          <a:xfrm>
            <a:off x="3556000" y="2875855"/>
            <a:ext cx="228600" cy="228600"/>
          </a:xfrm>
          <a:prstGeom prst="roundRect">
            <a:avLst>
              <a:gd name="adj" fmla="val 50000"/>
            </a:avLst>
          </a:prstGeom>
          <a:solidFill>
            <a:srgbClr val="E9A23B"/>
          </a:solidFill>
          <a:ln/>
        </p:spPr>
        <p:txBody>
          <a:bodyPr/>
          <a:lstStyle/>
          <a:p>
            <a:endParaRPr lang="es-CO"/>
          </a:p>
        </p:txBody>
      </p:sp>
      <p:sp>
        <p:nvSpPr>
          <p:cNvPr id="44" name="Shape 42"/>
          <p:cNvSpPr/>
          <p:nvPr/>
        </p:nvSpPr>
        <p:spPr>
          <a:xfrm>
            <a:off x="812800" y="3180655"/>
            <a:ext cx="228600" cy="228600"/>
          </a:xfrm>
          <a:prstGeom prst="roundRect">
            <a:avLst>
              <a:gd name="adj" fmla="val 50000"/>
            </a:avLst>
          </a:prstGeom>
          <a:solidFill>
            <a:srgbClr val="CFCBBE"/>
          </a:solidFill>
          <a:ln/>
        </p:spPr>
        <p:txBody>
          <a:bodyPr/>
          <a:lstStyle/>
          <a:p>
            <a:endParaRPr lang="es-CO"/>
          </a:p>
        </p:txBody>
      </p:sp>
      <p:sp>
        <p:nvSpPr>
          <p:cNvPr id="45" name="Shape 43"/>
          <p:cNvSpPr/>
          <p:nvPr/>
        </p:nvSpPr>
        <p:spPr>
          <a:xfrm>
            <a:off x="1117600" y="3180655"/>
            <a:ext cx="228600" cy="228600"/>
          </a:xfrm>
          <a:prstGeom prst="roundRect">
            <a:avLst>
              <a:gd name="adj" fmla="val 50000"/>
            </a:avLst>
          </a:prstGeom>
          <a:solidFill>
            <a:srgbClr val="CFCBBE"/>
          </a:solidFill>
          <a:ln/>
        </p:spPr>
        <p:txBody>
          <a:bodyPr/>
          <a:lstStyle/>
          <a:p>
            <a:endParaRPr lang="es-CO"/>
          </a:p>
        </p:txBody>
      </p:sp>
      <p:sp>
        <p:nvSpPr>
          <p:cNvPr id="46" name="Shape 44"/>
          <p:cNvSpPr/>
          <p:nvPr/>
        </p:nvSpPr>
        <p:spPr>
          <a:xfrm>
            <a:off x="1422400" y="3180655"/>
            <a:ext cx="228600" cy="228600"/>
          </a:xfrm>
          <a:prstGeom prst="roundRect">
            <a:avLst>
              <a:gd name="adj" fmla="val 50000"/>
            </a:avLst>
          </a:prstGeom>
          <a:solidFill>
            <a:srgbClr val="CFCBBE"/>
          </a:solidFill>
          <a:ln/>
        </p:spPr>
        <p:txBody>
          <a:bodyPr/>
          <a:lstStyle/>
          <a:p>
            <a:endParaRPr lang="es-CO"/>
          </a:p>
        </p:txBody>
      </p:sp>
      <p:sp>
        <p:nvSpPr>
          <p:cNvPr id="47" name="Shape 45"/>
          <p:cNvSpPr/>
          <p:nvPr/>
        </p:nvSpPr>
        <p:spPr>
          <a:xfrm>
            <a:off x="1727200" y="3180655"/>
            <a:ext cx="228600" cy="228600"/>
          </a:xfrm>
          <a:prstGeom prst="roundRect">
            <a:avLst>
              <a:gd name="adj" fmla="val 50000"/>
            </a:avLst>
          </a:prstGeom>
          <a:solidFill>
            <a:srgbClr val="CFCBBE"/>
          </a:solidFill>
          <a:ln/>
        </p:spPr>
        <p:txBody>
          <a:bodyPr/>
          <a:lstStyle/>
          <a:p>
            <a:endParaRPr lang="es-CO"/>
          </a:p>
        </p:txBody>
      </p:sp>
      <p:sp>
        <p:nvSpPr>
          <p:cNvPr id="48" name="Shape 46"/>
          <p:cNvSpPr/>
          <p:nvPr/>
        </p:nvSpPr>
        <p:spPr>
          <a:xfrm>
            <a:off x="2032000" y="3180655"/>
            <a:ext cx="228600" cy="228600"/>
          </a:xfrm>
          <a:prstGeom prst="roundRect">
            <a:avLst>
              <a:gd name="adj" fmla="val 50000"/>
            </a:avLst>
          </a:prstGeom>
          <a:solidFill>
            <a:srgbClr val="CFCBBE"/>
          </a:solidFill>
          <a:ln/>
        </p:spPr>
        <p:txBody>
          <a:bodyPr/>
          <a:lstStyle/>
          <a:p>
            <a:endParaRPr lang="es-CO"/>
          </a:p>
        </p:txBody>
      </p:sp>
      <p:sp>
        <p:nvSpPr>
          <p:cNvPr id="49" name="Shape 47"/>
          <p:cNvSpPr/>
          <p:nvPr/>
        </p:nvSpPr>
        <p:spPr>
          <a:xfrm>
            <a:off x="2336800" y="3180655"/>
            <a:ext cx="228600" cy="228600"/>
          </a:xfrm>
          <a:prstGeom prst="roundRect">
            <a:avLst>
              <a:gd name="adj" fmla="val 50000"/>
            </a:avLst>
          </a:prstGeom>
          <a:solidFill>
            <a:srgbClr val="E9A23B"/>
          </a:solidFill>
          <a:ln/>
        </p:spPr>
        <p:txBody>
          <a:bodyPr/>
          <a:lstStyle/>
          <a:p>
            <a:endParaRPr lang="es-CO"/>
          </a:p>
        </p:txBody>
      </p:sp>
      <p:sp>
        <p:nvSpPr>
          <p:cNvPr id="50" name="Shape 48"/>
          <p:cNvSpPr/>
          <p:nvPr/>
        </p:nvSpPr>
        <p:spPr>
          <a:xfrm>
            <a:off x="2641600" y="3180655"/>
            <a:ext cx="228600" cy="228600"/>
          </a:xfrm>
          <a:prstGeom prst="roundRect">
            <a:avLst>
              <a:gd name="adj" fmla="val 50000"/>
            </a:avLst>
          </a:prstGeom>
          <a:solidFill>
            <a:srgbClr val="CFCBBE"/>
          </a:solidFill>
          <a:ln/>
        </p:spPr>
        <p:txBody>
          <a:bodyPr/>
          <a:lstStyle/>
          <a:p>
            <a:endParaRPr lang="es-CO"/>
          </a:p>
        </p:txBody>
      </p:sp>
      <p:sp>
        <p:nvSpPr>
          <p:cNvPr id="51" name="Shape 49"/>
          <p:cNvSpPr/>
          <p:nvPr/>
        </p:nvSpPr>
        <p:spPr>
          <a:xfrm>
            <a:off x="2946400" y="3180655"/>
            <a:ext cx="228600" cy="228600"/>
          </a:xfrm>
          <a:prstGeom prst="roundRect">
            <a:avLst>
              <a:gd name="adj" fmla="val 50000"/>
            </a:avLst>
          </a:prstGeom>
          <a:solidFill>
            <a:srgbClr val="CFCBBE"/>
          </a:solidFill>
          <a:ln/>
        </p:spPr>
        <p:txBody>
          <a:bodyPr/>
          <a:lstStyle/>
          <a:p>
            <a:endParaRPr lang="es-CO"/>
          </a:p>
        </p:txBody>
      </p:sp>
      <p:sp>
        <p:nvSpPr>
          <p:cNvPr id="52" name="Shape 50"/>
          <p:cNvSpPr/>
          <p:nvPr/>
        </p:nvSpPr>
        <p:spPr>
          <a:xfrm>
            <a:off x="3251200" y="3180655"/>
            <a:ext cx="228600" cy="228600"/>
          </a:xfrm>
          <a:prstGeom prst="roundRect">
            <a:avLst>
              <a:gd name="adj" fmla="val 50000"/>
            </a:avLst>
          </a:prstGeom>
          <a:solidFill>
            <a:srgbClr val="CFCBBE"/>
          </a:solidFill>
          <a:ln/>
        </p:spPr>
        <p:txBody>
          <a:bodyPr/>
          <a:lstStyle/>
          <a:p>
            <a:endParaRPr lang="es-CO"/>
          </a:p>
        </p:txBody>
      </p:sp>
      <p:sp>
        <p:nvSpPr>
          <p:cNvPr id="53" name="Shape 51"/>
          <p:cNvSpPr/>
          <p:nvPr/>
        </p:nvSpPr>
        <p:spPr>
          <a:xfrm>
            <a:off x="3556000" y="3180655"/>
            <a:ext cx="228600" cy="228600"/>
          </a:xfrm>
          <a:prstGeom prst="roundRect">
            <a:avLst>
              <a:gd name="adj" fmla="val 50000"/>
            </a:avLst>
          </a:prstGeom>
          <a:solidFill>
            <a:srgbClr val="CFCBBE"/>
          </a:solidFill>
          <a:ln/>
        </p:spPr>
        <p:txBody>
          <a:bodyPr/>
          <a:lstStyle/>
          <a:p>
            <a:endParaRPr lang="es-CO"/>
          </a:p>
        </p:txBody>
      </p:sp>
      <p:sp>
        <p:nvSpPr>
          <p:cNvPr id="54" name="Shape 52"/>
          <p:cNvSpPr/>
          <p:nvPr/>
        </p:nvSpPr>
        <p:spPr>
          <a:xfrm>
            <a:off x="812800" y="3485455"/>
            <a:ext cx="228600" cy="228600"/>
          </a:xfrm>
          <a:prstGeom prst="roundRect">
            <a:avLst>
              <a:gd name="adj" fmla="val 50000"/>
            </a:avLst>
          </a:prstGeom>
          <a:solidFill>
            <a:srgbClr val="CFCBBE"/>
          </a:solidFill>
          <a:ln/>
        </p:spPr>
        <p:txBody>
          <a:bodyPr/>
          <a:lstStyle/>
          <a:p>
            <a:endParaRPr lang="es-CO"/>
          </a:p>
        </p:txBody>
      </p:sp>
      <p:sp>
        <p:nvSpPr>
          <p:cNvPr id="55" name="Shape 53"/>
          <p:cNvSpPr/>
          <p:nvPr/>
        </p:nvSpPr>
        <p:spPr>
          <a:xfrm>
            <a:off x="1117600" y="3485455"/>
            <a:ext cx="228600" cy="228600"/>
          </a:xfrm>
          <a:prstGeom prst="roundRect">
            <a:avLst>
              <a:gd name="adj" fmla="val 50000"/>
            </a:avLst>
          </a:prstGeom>
          <a:solidFill>
            <a:srgbClr val="CFCBBE"/>
          </a:solidFill>
          <a:ln/>
        </p:spPr>
        <p:txBody>
          <a:bodyPr/>
          <a:lstStyle/>
          <a:p>
            <a:endParaRPr lang="es-CO"/>
          </a:p>
        </p:txBody>
      </p:sp>
      <p:sp>
        <p:nvSpPr>
          <p:cNvPr id="56" name="Shape 54"/>
          <p:cNvSpPr/>
          <p:nvPr/>
        </p:nvSpPr>
        <p:spPr>
          <a:xfrm>
            <a:off x="1422400" y="3485455"/>
            <a:ext cx="228600" cy="228600"/>
          </a:xfrm>
          <a:prstGeom prst="roundRect">
            <a:avLst>
              <a:gd name="adj" fmla="val 50000"/>
            </a:avLst>
          </a:prstGeom>
          <a:solidFill>
            <a:srgbClr val="CFCBBE"/>
          </a:solidFill>
          <a:ln/>
        </p:spPr>
        <p:txBody>
          <a:bodyPr/>
          <a:lstStyle/>
          <a:p>
            <a:endParaRPr lang="es-CO"/>
          </a:p>
        </p:txBody>
      </p:sp>
      <p:sp>
        <p:nvSpPr>
          <p:cNvPr id="57" name="Shape 55"/>
          <p:cNvSpPr/>
          <p:nvPr/>
        </p:nvSpPr>
        <p:spPr>
          <a:xfrm>
            <a:off x="1727200" y="3485455"/>
            <a:ext cx="228600" cy="228600"/>
          </a:xfrm>
          <a:prstGeom prst="roundRect">
            <a:avLst>
              <a:gd name="adj" fmla="val 50000"/>
            </a:avLst>
          </a:prstGeom>
          <a:solidFill>
            <a:srgbClr val="CFCBBE"/>
          </a:solidFill>
          <a:ln/>
        </p:spPr>
        <p:txBody>
          <a:bodyPr/>
          <a:lstStyle/>
          <a:p>
            <a:endParaRPr lang="es-CO"/>
          </a:p>
        </p:txBody>
      </p:sp>
      <p:sp>
        <p:nvSpPr>
          <p:cNvPr id="58" name="Shape 56"/>
          <p:cNvSpPr/>
          <p:nvPr/>
        </p:nvSpPr>
        <p:spPr>
          <a:xfrm>
            <a:off x="2032000" y="3485455"/>
            <a:ext cx="228600" cy="228600"/>
          </a:xfrm>
          <a:prstGeom prst="roundRect">
            <a:avLst>
              <a:gd name="adj" fmla="val 50000"/>
            </a:avLst>
          </a:prstGeom>
          <a:solidFill>
            <a:srgbClr val="E9A23B"/>
          </a:solidFill>
          <a:ln/>
        </p:spPr>
        <p:txBody>
          <a:bodyPr/>
          <a:lstStyle/>
          <a:p>
            <a:endParaRPr lang="es-CO"/>
          </a:p>
        </p:txBody>
      </p:sp>
      <p:sp>
        <p:nvSpPr>
          <p:cNvPr id="59" name="Shape 57"/>
          <p:cNvSpPr/>
          <p:nvPr/>
        </p:nvSpPr>
        <p:spPr>
          <a:xfrm>
            <a:off x="2336800" y="3485455"/>
            <a:ext cx="228600" cy="228600"/>
          </a:xfrm>
          <a:prstGeom prst="roundRect">
            <a:avLst>
              <a:gd name="adj" fmla="val 50000"/>
            </a:avLst>
          </a:prstGeom>
          <a:solidFill>
            <a:srgbClr val="CFCBBE"/>
          </a:solidFill>
          <a:ln/>
        </p:spPr>
        <p:txBody>
          <a:bodyPr/>
          <a:lstStyle/>
          <a:p>
            <a:endParaRPr lang="es-CO"/>
          </a:p>
        </p:txBody>
      </p:sp>
      <p:sp>
        <p:nvSpPr>
          <p:cNvPr id="60" name="Shape 58"/>
          <p:cNvSpPr/>
          <p:nvPr/>
        </p:nvSpPr>
        <p:spPr>
          <a:xfrm>
            <a:off x="2641600" y="3485455"/>
            <a:ext cx="228600" cy="228600"/>
          </a:xfrm>
          <a:prstGeom prst="roundRect">
            <a:avLst>
              <a:gd name="adj" fmla="val 50000"/>
            </a:avLst>
          </a:prstGeom>
          <a:solidFill>
            <a:srgbClr val="CFCBBE"/>
          </a:solidFill>
          <a:ln/>
        </p:spPr>
        <p:txBody>
          <a:bodyPr/>
          <a:lstStyle/>
          <a:p>
            <a:endParaRPr lang="es-CO"/>
          </a:p>
        </p:txBody>
      </p:sp>
      <p:sp>
        <p:nvSpPr>
          <p:cNvPr id="61" name="Shape 59"/>
          <p:cNvSpPr/>
          <p:nvPr/>
        </p:nvSpPr>
        <p:spPr>
          <a:xfrm>
            <a:off x="2946400" y="3485455"/>
            <a:ext cx="228600" cy="228600"/>
          </a:xfrm>
          <a:prstGeom prst="roundRect">
            <a:avLst>
              <a:gd name="adj" fmla="val 50000"/>
            </a:avLst>
          </a:prstGeom>
          <a:solidFill>
            <a:srgbClr val="E9A23B"/>
          </a:solidFill>
          <a:ln/>
        </p:spPr>
        <p:txBody>
          <a:bodyPr/>
          <a:lstStyle/>
          <a:p>
            <a:endParaRPr lang="es-CO"/>
          </a:p>
        </p:txBody>
      </p:sp>
      <p:sp>
        <p:nvSpPr>
          <p:cNvPr id="62" name="Shape 60"/>
          <p:cNvSpPr/>
          <p:nvPr/>
        </p:nvSpPr>
        <p:spPr>
          <a:xfrm>
            <a:off x="3251200" y="3485455"/>
            <a:ext cx="228600" cy="228600"/>
          </a:xfrm>
          <a:prstGeom prst="roundRect">
            <a:avLst>
              <a:gd name="adj" fmla="val 50000"/>
            </a:avLst>
          </a:prstGeom>
          <a:solidFill>
            <a:srgbClr val="CFCBBE"/>
          </a:solidFill>
          <a:ln/>
        </p:spPr>
        <p:txBody>
          <a:bodyPr/>
          <a:lstStyle/>
          <a:p>
            <a:endParaRPr lang="es-CO"/>
          </a:p>
        </p:txBody>
      </p:sp>
      <p:sp>
        <p:nvSpPr>
          <p:cNvPr id="63" name="Shape 61"/>
          <p:cNvSpPr/>
          <p:nvPr/>
        </p:nvSpPr>
        <p:spPr>
          <a:xfrm>
            <a:off x="3556000" y="3485455"/>
            <a:ext cx="228600" cy="228600"/>
          </a:xfrm>
          <a:prstGeom prst="roundRect">
            <a:avLst>
              <a:gd name="adj" fmla="val 50000"/>
            </a:avLst>
          </a:prstGeom>
          <a:solidFill>
            <a:srgbClr val="CFCBBE"/>
          </a:solidFill>
          <a:ln/>
        </p:spPr>
        <p:txBody>
          <a:bodyPr/>
          <a:lstStyle/>
          <a:p>
            <a:endParaRPr lang="es-CO"/>
          </a:p>
        </p:txBody>
      </p:sp>
      <p:sp>
        <p:nvSpPr>
          <p:cNvPr id="64" name="Shape 62"/>
          <p:cNvSpPr/>
          <p:nvPr/>
        </p:nvSpPr>
        <p:spPr>
          <a:xfrm>
            <a:off x="812800" y="3790255"/>
            <a:ext cx="228600" cy="228600"/>
          </a:xfrm>
          <a:prstGeom prst="roundRect">
            <a:avLst>
              <a:gd name="adj" fmla="val 50000"/>
            </a:avLst>
          </a:prstGeom>
          <a:solidFill>
            <a:srgbClr val="CFCBBE"/>
          </a:solidFill>
          <a:ln/>
        </p:spPr>
        <p:txBody>
          <a:bodyPr/>
          <a:lstStyle/>
          <a:p>
            <a:endParaRPr lang="es-CO"/>
          </a:p>
        </p:txBody>
      </p:sp>
      <p:sp>
        <p:nvSpPr>
          <p:cNvPr id="65" name="Shape 63"/>
          <p:cNvSpPr/>
          <p:nvPr/>
        </p:nvSpPr>
        <p:spPr>
          <a:xfrm>
            <a:off x="1117600" y="3790255"/>
            <a:ext cx="228600" cy="228600"/>
          </a:xfrm>
          <a:prstGeom prst="roundRect">
            <a:avLst>
              <a:gd name="adj" fmla="val 50000"/>
            </a:avLst>
          </a:prstGeom>
          <a:solidFill>
            <a:srgbClr val="CFCBBE"/>
          </a:solidFill>
          <a:ln/>
        </p:spPr>
        <p:txBody>
          <a:bodyPr/>
          <a:lstStyle/>
          <a:p>
            <a:endParaRPr lang="es-CO"/>
          </a:p>
        </p:txBody>
      </p:sp>
      <p:sp>
        <p:nvSpPr>
          <p:cNvPr id="66" name="Shape 64"/>
          <p:cNvSpPr/>
          <p:nvPr/>
        </p:nvSpPr>
        <p:spPr>
          <a:xfrm>
            <a:off x="1422400" y="3790255"/>
            <a:ext cx="228600" cy="228600"/>
          </a:xfrm>
          <a:prstGeom prst="roundRect">
            <a:avLst>
              <a:gd name="adj" fmla="val 50000"/>
            </a:avLst>
          </a:prstGeom>
          <a:solidFill>
            <a:srgbClr val="CFCBBE"/>
          </a:solidFill>
          <a:ln/>
        </p:spPr>
        <p:txBody>
          <a:bodyPr/>
          <a:lstStyle/>
          <a:p>
            <a:endParaRPr lang="es-CO"/>
          </a:p>
        </p:txBody>
      </p:sp>
      <p:sp>
        <p:nvSpPr>
          <p:cNvPr id="67" name="Shape 65"/>
          <p:cNvSpPr/>
          <p:nvPr/>
        </p:nvSpPr>
        <p:spPr>
          <a:xfrm>
            <a:off x="1727200" y="3790255"/>
            <a:ext cx="228600" cy="228600"/>
          </a:xfrm>
          <a:prstGeom prst="roundRect">
            <a:avLst>
              <a:gd name="adj" fmla="val 50000"/>
            </a:avLst>
          </a:prstGeom>
          <a:solidFill>
            <a:srgbClr val="CFCBBE"/>
          </a:solidFill>
          <a:ln/>
        </p:spPr>
        <p:txBody>
          <a:bodyPr/>
          <a:lstStyle/>
          <a:p>
            <a:endParaRPr lang="es-CO"/>
          </a:p>
        </p:txBody>
      </p:sp>
      <p:sp>
        <p:nvSpPr>
          <p:cNvPr id="68" name="Shape 66"/>
          <p:cNvSpPr/>
          <p:nvPr/>
        </p:nvSpPr>
        <p:spPr>
          <a:xfrm>
            <a:off x="2032000" y="3790255"/>
            <a:ext cx="228600" cy="228600"/>
          </a:xfrm>
          <a:prstGeom prst="roundRect">
            <a:avLst>
              <a:gd name="adj" fmla="val 50000"/>
            </a:avLst>
          </a:prstGeom>
          <a:solidFill>
            <a:srgbClr val="CFCBBE"/>
          </a:solidFill>
          <a:ln/>
        </p:spPr>
        <p:txBody>
          <a:bodyPr/>
          <a:lstStyle/>
          <a:p>
            <a:endParaRPr lang="es-CO"/>
          </a:p>
        </p:txBody>
      </p:sp>
      <p:sp>
        <p:nvSpPr>
          <p:cNvPr id="69" name="Shape 67"/>
          <p:cNvSpPr/>
          <p:nvPr/>
        </p:nvSpPr>
        <p:spPr>
          <a:xfrm>
            <a:off x="2336800" y="3790255"/>
            <a:ext cx="228600" cy="228600"/>
          </a:xfrm>
          <a:prstGeom prst="roundRect">
            <a:avLst>
              <a:gd name="adj" fmla="val 50000"/>
            </a:avLst>
          </a:prstGeom>
          <a:solidFill>
            <a:srgbClr val="E9A23B"/>
          </a:solidFill>
          <a:ln/>
        </p:spPr>
        <p:txBody>
          <a:bodyPr/>
          <a:lstStyle/>
          <a:p>
            <a:endParaRPr lang="es-CO"/>
          </a:p>
        </p:txBody>
      </p:sp>
      <p:sp>
        <p:nvSpPr>
          <p:cNvPr id="70" name="Shape 68"/>
          <p:cNvSpPr/>
          <p:nvPr/>
        </p:nvSpPr>
        <p:spPr>
          <a:xfrm>
            <a:off x="2641600" y="3790255"/>
            <a:ext cx="228600" cy="228600"/>
          </a:xfrm>
          <a:prstGeom prst="roundRect">
            <a:avLst>
              <a:gd name="adj" fmla="val 50000"/>
            </a:avLst>
          </a:prstGeom>
          <a:solidFill>
            <a:srgbClr val="CFCBBE"/>
          </a:solidFill>
          <a:ln/>
        </p:spPr>
        <p:txBody>
          <a:bodyPr/>
          <a:lstStyle/>
          <a:p>
            <a:endParaRPr lang="es-CO"/>
          </a:p>
        </p:txBody>
      </p:sp>
      <p:sp>
        <p:nvSpPr>
          <p:cNvPr id="71" name="Shape 69"/>
          <p:cNvSpPr/>
          <p:nvPr/>
        </p:nvSpPr>
        <p:spPr>
          <a:xfrm>
            <a:off x="2946400" y="3790255"/>
            <a:ext cx="228600" cy="228600"/>
          </a:xfrm>
          <a:prstGeom prst="roundRect">
            <a:avLst>
              <a:gd name="adj" fmla="val 50000"/>
            </a:avLst>
          </a:prstGeom>
          <a:solidFill>
            <a:srgbClr val="CFCBBE"/>
          </a:solidFill>
          <a:ln/>
        </p:spPr>
        <p:txBody>
          <a:bodyPr/>
          <a:lstStyle/>
          <a:p>
            <a:endParaRPr lang="es-CO"/>
          </a:p>
        </p:txBody>
      </p:sp>
      <p:sp>
        <p:nvSpPr>
          <p:cNvPr id="72" name="Shape 70"/>
          <p:cNvSpPr/>
          <p:nvPr/>
        </p:nvSpPr>
        <p:spPr>
          <a:xfrm>
            <a:off x="3251200" y="3790255"/>
            <a:ext cx="228600" cy="228600"/>
          </a:xfrm>
          <a:prstGeom prst="roundRect">
            <a:avLst>
              <a:gd name="adj" fmla="val 50000"/>
            </a:avLst>
          </a:prstGeom>
          <a:solidFill>
            <a:srgbClr val="E9A23B"/>
          </a:solidFill>
          <a:ln/>
        </p:spPr>
        <p:txBody>
          <a:bodyPr/>
          <a:lstStyle/>
          <a:p>
            <a:endParaRPr lang="es-CO"/>
          </a:p>
        </p:txBody>
      </p:sp>
      <p:sp>
        <p:nvSpPr>
          <p:cNvPr id="73" name="Shape 71"/>
          <p:cNvSpPr/>
          <p:nvPr/>
        </p:nvSpPr>
        <p:spPr>
          <a:xfrm>
            <a:off x="3556000" y="3790255"/>
            <a:ext cx="228600" cy="228600"/>
          </a:xfrm>
          <a:prstGeom prst="roundRect">
            <a:avLst>
              <a:gd name="adj" fmla="val 50000"/>
            </a:avLst>
          </a:prstGeom>
          <a:solidFill>
            <a:srgbClr val="CFCBBE"/>
          </a:solidFill>
          <a:ln/>
        </p:spPr>
        <p:txBody>
          <a:bodyPr/>
          <a:lstStyle/>
          <a:p>
            <a:endParaRPr lang="es-CO"/>
          </a:p>
        </p:txBody>
      </p:sp>
      <p:sp>
        <p:nvSpPr>
          <p:cNvPr id="74" name="Shape 72"/>
          <p:cNvSpPr/>
          <p:nvPr/>
        </p:nvSpPr>
        <p:spPr>
          <a:xfrm>
            <a:off x="812800" y="4095055"/>
            <a:ext cx="228600" cy="228600"/>
          </a:xfrm>
          <a:prstGeom prst="roundRect">
            <a:avLst>
              <a:gd name="adj" fmla="val 50000"/>
            </a:avLst>
          </a:prstGeom>
          <a:solidFill>
            <a:srgbClr val="CFCBBE"/>
          </a:solidFill>
          <a:ln/>
        </p:spPr>
        <p:txBody>
          <a:bodyPr/>
          <a:lstStyle/>
          <a:p>
            <a:endParaRPr lang="es-CO"/>
          </a:p>
        </p:txBody>
      </p:sp>
      <p:sp>
        <p:nvSpPr>
          <p:cNvPr id="75" name="Shape 73"/>
          <p:cNvSpPr/>
          <p:nvPr/>
        </p:nvSpPr>
        <p:spPr>
          <a:xfrm>
            <a:off x="1117600" y="4095055"/>
            <a:ext cx="228600" cy="228600"/>
          </a:xfrm>
          <a:prstGeom prst="roundRect">
            <a:avLst>
              <a:gd name="adj" fmla="val 50000"/>
            </a:avLst>
          </a:prstGeom>
          <a:solidFill>
            <a:srgbClr val="E9A23B"/>
          </a:solidFill>
          <a:ln/>
        </p:spPr>
        <p:txBody>
          <a:bodyPr/>
          <a:lstStyle/>
          <a:p>
            <a:endParaRPr lang="es-CO"/>
          </a:p>
        </p:txBody>
      </p:sp>
      <p:sp>
        <p:nvSpPr>
          <p:cNvPr id="76" name="Shape 74"/>
          <p:cNvSpPr/>
          <p:nvPr/>
        </p:nvSpPr>
        <p:spPr>
          <a:xfrm>
            <a:off x="1422400" y="4095055"/>
            <a:ext cx="228600" cy="228600"/>
          </a:xfrm>
          <a:prstGeom prst="roundRect">
            <a:avLst>
              <a:gd name="adj" fmla="val 50000"/>
            </a:avLst>
          </a:prstGeom>
          <a:solidFill>
            <a:srgbClr val="CFCBBE"/>
          </a:solidFill>
          <a:ln/>
        </p:spPr>
        <p:txBody>
          <a:bodyPr/>
          <a:lstStyle/>
          <a:p>
            <a:endParaRPr lang="es-CO"/>
          </a:p>
        </p:txBody>
      </p:sp>
      <p:sp>
        <p:nvSpPr>
          <p:cNvPr id="77" name="Shape 75"/>
          <p:cNvSpPr/>
          <p:nvPr/>
        </p:nvSpPr>
        <p:spPr>
          <a:xfrm>
            <a:off x="1727200" y="4095055"/>
            <a:ext cx="228600" cy="228600"/>
          </a:xfrm>
          <a:prstGeom prst="roundRect">
            <a:avLst>
              <a:gd name="adj" fmla="val 50000"/>
            </a:avLst>
          </a:prstGeom>
          <a:solidFill>
            <a:srgbClr val="CFCBBE"/>
          </a:solidFill>
          <a:ln/>
        </p:spPr>
        <p:txBody>
          <a:bodyPr/>
          <a:lstStyle/>
          <a:p>
            <a:endParaRPr lang="es-CO"/>
          </a:p>
        </p:txBody>
      </p:sp>
      <p:sp>
        <p:nvSpPr>
          <p:cNvPr id="78" name="Shape 76"/>
          <p:cNvSpPr/>
          <p:nvPr/>
        </p:nvSpPr>
        <p:spPr>
          <a:xfrm>
            <a:off x="2032000" y="4095055"/>
            <a:ext cx="228600" cy="228600"/>
          </a:xfrm>
          <a:prstGeom prst="roundRect">
            <a:avLst>
              <a:gd name="adj" fmla="val 50000"/>
            </a:avLst>
          </a:prstGeom>
          <a:solidFill>
            <a:srgbClr val="CFCBBE"/>
          </a:solidFill>
          <a:ln/>
        </p:spPr>
        <p:txBody>
          <a:bodyPr/>
          <a:lstStyle/>
          <a:p>
            <a:endParaRPr lang="es-CO"/>
          </a:p>
        </p:txBody>
      </p:sp>
      <p:sp>
        <p:nvSpPr>
          <p:cNvPr id="79" name="Shape 77"/>
          <p:cNvSpPr/>
          <p:nvPr/>
        </p:nvSpPr>
        <p:spPr>
          <a:xfrm>
            <a:off x="2336800" y="4095055"/>
            <a:ext cx="228600" cy="228600"/>
          </a:xfrm>
          <a:prstGeom prst="roundRect">
            <a:avLst>
              <a:gd name="adj" fmla="val 50000"/>
            </a:avLst>
          </a:prstGeom>
          <a:solidFill>
            <a:srgbClr val="CFCBBE"/>
          </a:solidFill>
          <a:ln/>
        </p:spPr>
        <p:txBody>
          <a:bodyPr/>
          <a:lstStyle/>
          <a:p>
            <a:endParaRPr lang="es-CO"/>
          </a:p>
        </p:txBody>
      </p:sp>
      <p:sp>
        <p:nvSpPr>
          <p:cNvPr id="80" name="Shape 78"/>
          <p:cNvSpPr/>
          <p:nvPr/>
        </p:nvSpPr>
        <p:spPr>
          <a:xfrm>
            <a:off x="2641600" y="4095055"/>
            <a:ext cx="228600" cy="228600"/>
          </a:xfrm>
          <a:prstGeom prst="roundRect">
            <a:avLst>
              <a:gd name="adj" fmla="val 50000"/>
            </a:avLst>
          </a:prstGeom>
          <a:solidFill>
            <a:srgbClr val="CFCBBE"/>
          </a:solidFill>
          <a:ln/>
        </p:spPr>
        <p:txBody>
          <a:bodyPr/>
          <a:lstStyle/>
          <a:p>
            <a:endParaRPr lang="es-CO"/>
          </a:p>
        </p:txBody>
      </p:sp>
      <p:sp>
        <p:nvSpPr>
          <p:cNvPr id="81" name="Shape 79"/>
          <p:cNvSpPr/>
          <p:nvPr/>
        </p:nvSpPr>
        <p:spPr>
          <a:xfrm>
            <a:off x="2946400" y="4095055"/>
            <a:ext cx="228600" cy="228600"/>
          </a:xfrm>
          <a:prstGeom prst="roundRect">
            <a:avLst>
              <a:gd name="adj" fmla="val 50000"/>
            </a:avLst>
          </a:prstGeom>
          <a:solidFill>
            <a:srgbClr val="CFCBBE"/>
          </a:solidFill>
          <a:ln/>
        </p:spPr>
        <p:txBody>
          <a:bodyPr/>
          <a:lstStyle/>
          <a:p>
            <a:endParaRPr lang="es-CO"/>
          </a:p>
        </p:txBody>
      </p:sp>
      <p:sp>
        <p:nvSpPr>
          <p:cNvPr id="82" name="Shape 80"/>
          <p:cNvSpPr/>
          <p:nvPr/>
        </p:nvSpPr>
        <p:spPr>
          <a:xfrm>
            <a:off x="3251200" y="4095055"/>
            <a:ext cx="228600" cy="228600"/>
          </a:xfrm>
          <a:prstGeom prst="roundRect">
            <a:avLst>
              <a:gd name="adj" fmla="val 50000"/>
            </a:avLst>
          </a:prstGeom>
          <a:solidFill>
            <a:srgbClr val="CFCBBE"/>
          </a:solidFill>
          <a:ln/>
        </p:spPr>
        <p:txBody>
          <a:bodyPr/>
          <a:lstStyle/>
          <a:p>
            <a:endParaRPr lang="es-CO"/>
          </a:p>
        </p:txBody>
      </p:sp>
      <p:sp>
        <p:nvSpPr>
          <p:cNvPr id="83" name="Shape 81"/>
          <p:cNvSpPr/>
          <p:nvPr/>
        </p:nvSpPr>
        <p:spPr>
          <a:xfrm>
            <a:off x="3556000" y="4095055"/>
            <a:ext cx="228600" cy="228600"/>
          </a:xfrm>
          <a:prstGeom prst="roundRect">
            <a:avLst>
              <a:gd name="adj" fmla="val 50000"/>
            </a:avLst>
          </a:prstGeom>
          <a:solidFill>
            <a:srgbClr val="CFCBBE"/>
          </a:solidFill>
          <a:ln/>
        </p:spPr>
        <p:txBody>
          <a:bodyPr/>
          <a:lstStyle/>
          <a:p>
            <a:endParaRPr lang="es-CO"/>
          </a:p>
        </p:txBody>
      </p:sp>
      <p:sp>
        <p:nvSpPr>
          <p:cNvPr id="84" name="Shape 82"/>
          <p:cNvSpPr/>
          <p:nvPr/>
        </p:nvSpPr>
        <p:spPr>
          <a:xfrm>
            <a:off x="812800" y="4399855"/>
            <a:ext cx="228600" cy="228600"/>
          </a:xfrm>
          <a:prstGeom prst="roundRect">
            <a:avLst>
              <a:gd name="adj" fmla="val 50000"/>
            </a:avLst>
          </a:prstGeom>
          <a:solidFill>
            <a:srgbClr val="CFCBBE"/>
          </a:solidFill>
          <a:ln/>
        </p:spPr>
        <p:txBody>
          <a:bodyPr/>
          <a:lstStyle/>
          <a:p>
            <a:endParaRPr lang="es-CO"/>
          </a:p>
        </p:txBody>
      </p:sp>
      <p:sp>
        <p:nvSpPr>
          <p:cNvPr id="85" name="Shape 83"/>
          <p:cNvSpPr/>
          <p:nvPr/>
        </p:nvSpPr>
        <p:spPr>
          <a:xfrm>
            <a:off x="1117600" y="4399855"/>
            <a:ext cx="228600" cy="228600"/>
          </a:xfrm>
          <a:prstGeom prst="roundRect">
            <a:avLst>
              <a:gd name="adj" fmla="val 50000"/>
            </a:avLst>
          </a:prstGeom>
          <a:solidFill>
            <a:srgbClr val="CFCBBE"/>
          </a:solidFill>
          <a:ln/>
        </p:spPr>
        <p:txBody>
          <a:bodyPr/>
          <a:lstStyle/>
          <a:p>
            <a:endParaRPr lang="es-CO"/>
          </a:p>
        </p:txBody>
      </p:sp>
      <p:sp>
        <p:nvSpPr>
          <p:cNvPr id="86" name="Shape 84"/>
          <p:cNvSpPr/>
          <p:nvPr/>
        </p:nvSpPr>
        <p:spPr>
          <a:xfrm>
            <a:off x="1422400" y="4399855"/>
            <a:ext cx="228600" cy="228600"/>
          </a:xfrm>
          <a:prstGeom prst="roundRect">
            <a:avLst>
              <a:gd name="adj" fmla="val 50000"/>
            </a:avLst>
          </a:prstGeom>
          <a:solidFill>
            <a:srgbClr val="E9A23B"/>
          </a:solidFill>
          <a:ln/>
        </p:spPr>
        <p:txBody>
          <a:bodyPr/>
          <a:lstStyle/>
          <a:p>
            <a:endParaRPr lang="es-CO"/>
          </a:p>
        </p:txBody>
      </p:sp>
      <p:sp>
        <p:nvSpPr>
          <p:cNvPr id="87" name="Shape 85"/>
          <p:cNvSpPr/>
          <p:nvPr/>
        </p:nvSpPr>
        <p:spPr>
          <a:xfrm>
            <a:off x="1727200" y="4399855"/>
            <a:ext cx="228600" cy="228600"/>
          </a:xfrm>
          <a:prstGeom prst="roundRect">
            <a:avLst>
              <a:gd name="adj" fmla="val 50000"/>
            </a:avLst>
          </a:prstGeom>
          <a:solidFill>
            <a:srgbClr val="CFCBBE"/>
          </a:solidFill>
          <a:ln/>
        </p:spPr>
        <p:txBody>
          <a:bodyPr/>
          <a:lstStyle/>
          <a:p>
            <a:endParaRPr lang="es-CO"/>
          </a:p>
        </p:txBody>
      </p:sp>
      <p:sp>
        <p:nvSpPr>
          <p:cNvPr id="88" name="Shape 86"/>
          <p:cNvSpPr/>
          <p:nvPr/>
        </p:nvSpPr>
        <p:spPr>
          <a:xfrm>
            <a:off x="2032000" y="4399855"/>
            <a:ext cx="228600" cy="228600"/>
          </a:xfrm>
          <a:prstGeom prst="roundRect">
            <a:avLst>
              <a:gd name="adj" fmla="val 50000"/>
            </a:avLst>
          </a:prstGeom>
          <a:solidFill>
            <a:srgbClr val="CFCBBE"/>
          </a:solidFill>
          <a:ln/>
        </p:spPr>
        <p:txBody>
          <a:bodyPr/>
          <a:lstStyle/>
          <a:p>
            <a:endParaRPr lang="es-CO"/>
          </a:p>
        </p:txBody>
      </p:sp>
      <p:sp>
        <p:nvSpPr>
          <p:cNvPr id="89" name="Shape 87"/>
          <p:cNvSpPr/>
          <p:nvPr/>
        </p:nvSpPr>
        <p:spPr>
          <a:xfrm>
            <a:off x="2336800" y="4399855"/>
            <a:ext cx="228600" cy="228600"/>
          </a:xfrm>
          <a:prstGeom prst="roundRect">
            <a:avLst>
              <a:gd name="adj" fmla="val 50000"/>
            </a:avLst>
          </a:prstGeom>
          <a:solidFill>
            <a:srgbClr val="CFCBBE"/>
          </a:solidFill>
          <a:ln/>
        </p:spPr>
        <p:txBody>
          <a:bodyPr/>
          <a:lstStyle/>
          <a:p>
            <a:endParaRPr lang="es-CO"/>
          </a:p>
        </p:txBody>
      </p:sp>
      <p:sp>
        <p:nvSpPr>
          <p:cNvPr id="90" name="Shape 88"/>
          <p:cNvSpPr/>
          <p:nvPr/>
        </p:nvSpPr>
        <p:spPr>
          <a:xfrm>
            <a:off x="2641600" y="4399855"/>
            <a:ext cx="228600" cy="228600"/>
          </a:xfrm>
          <a:prstGeom prst="roundRect">
            <a:avLst>
              <a:gd name="adj" fmla="val 50000"/>
            </a:avLst>
          </a:prstGeom>
          <a:solidFill>
            <a:srgbClr val="CFCBBE"/>
          </a:solidFill>
          <a:ln/>
        </p:spPr>
        <p:txBody>
          <a:bodyPr/>
          <a:lstStyle/>
          <a:p>
            <a:endParaRPr lang="es-CO"/>
          </a:p>
        </p:txBody>
      </p:sp>
      <p:sp>
        <p:nvSpPr>
          <p:cNvPr id="91" name="Shape 89"/>
          <p:cNvSpPr/>
          <p:nvPr/>
        </p:nvSpPr>
        <p:spPr>
          <a:xfrm>
            <a:off x="2946400" y="4399855"/>
            <a:ext cx="228600" cy="228600"/>
          </a:xfrm>
          <a:prstGeom prst="roundRect">
            <a:avLst>
              <a:gd name="adj" fmla="val 50000"/>
            </a:avLst>
          </a:prstGeom>
          <a:solidFill>
            <a:srgbClr val="CFCBBE"/>
          </a:solidFill>
          <a:ln/>
        </p:spPr>
        <p:txBody>
          <a:bodyPr/>
          <a:lstStyle/>
          <a:p>
            <a:endParaRPr lang="es-CO"/>
          </a:p>
        </p:txBody>
      </p:sp>
      <p:sp>
        <p:nvSpPr>
          <p:cNvPr id="92" name="Shape 90"/>
          <p:cNvSpPr/>
          <p:nvPr/>
        </p:nvSpPr>
        <p:spPr>
          <a:xfrm>
            <a:off x="3251200" y="4399855"/>
            <a:ext cx="228600" cy="228600"/>
          </a:xfrm>
          <a:prstGeom prst="roundRect">
            <a:avLst>
              <a:gd name="adj" fmla="val 50000"/>
            </a:avLst>
          </a:prstGeom>
          <a:solidFill>
            <a:srgbClr val="E9A23B"/>
          </a:solidFill>
          <a:ln/>
        </p:spPr>
        <p:txBody>
          <a:bodyPr/>
          <a:lstStyle/>
          <a:p>
            <a:endParaRPr lang="es-CO"/>
          </a:p>
        </p:txBody>
      </p:sp>
      <p:sp>
        <p:nvSpPr>
          <p:cNvPr id="93" name="Shape 91"/>
          <p:cNvSpPr/>
          <p:nvPr/>
        </p:nvSpPr>
        <p:spPr>
          <a:xfrm>
            <a:off x="3556000" y="4399855"/>
            <a:ext cx="228600" cy="228600"/>
          </a:xfrm>
          <a:prstGeom prst="roundRect">
            <a:avLst>
              <a:gd name="adj" fmla="val 50000"/>
            </a:avLst>
          </a:prstGeom>
          <a:solidFill>
            <a:srgbClr val="CFCBBE"/>
          </a:solidFill>
          <a:ln/>
        </p:spPr>
        <p:txBody>
          <a:bodyPr/>
          <a:lstStyle/>
          <a:p>
            <a:endParaRPr lang="es-CO"/>
          </a:p>
        </p:txBody>
      </p:sp>
      <p:sp>
        <p:nvSpPr>
          <p:cNvPr id="94" name="Shape 92"/>
          <p:cNvSpPr/>
          <p:nvPr/>
        </p:nvSpPr>
        <p:spPr>
          <a:xfrm>
            <a:off x="812800" y="4704655"/>
            <a:ext cx="228600" cy="228600"/>
          </a:xfrm>
          <a:prstGeom prst="roundRect">
            <a:avLst>
              <a:gd name="adj" fmla="val 50000"/>
            </a:avLst>
          </a:prstGeom>
          <a:solidFill>
            <a:srgbClr val="CFCBBE"/>
          </a:solidFill>
          <a:ln/>
        </p:spPr>
        <p:txBody>
          <a:bodyPr/>
          <a:lstStyle/>
          <a:p>
            <a:endParaRPr lang="es-CO"/>
          </a:p>
        </p:txBody>
      </p:sp>
      <p:sp>
        <p:nvSpPr>
          <p:cNvPr id="95" name="Shape 93"/>
          <p:cNvSpPr/>
          <p:nvPr/>
        </p:nvSpPr>
        <p:spPr>
          <a:xfrm>
            <a:off x="1117600" y="4704655"/>
            <a:ext cx="228600" cy="228600"/>
          </a:xfrm>
          <a:prstGeom prst="roundRect">
            <a:avLst>
              <a:gd name="adj" fmla="val 50000"/>
            </a:avLst>
          </a:prstGeom>
          <a:solidFill>
            <a:srgbClr val="CFCBBE"/>
          </a:solidFill>
          <a:ln/>
        </p:spPr>
        <p:txBody>
          <a:bodyPr/>
          <a:lstStyle/>
          <a:p>
            <a:endParaRPr lang="es-CO"/>
          </a:p>
        </p:txBody>
      </p:sp>
      <p:sp>
        <p:nvSpPr>
          <p:cNvPr id="96" name="Shape 94"/>
          <p:cNvSpPr/>
          <p:nvPr/>
        </p:nvSpPr>
        <p:spPr>
          <a:xfrm>
            <a:off x="1422400" y="4704655"/>
            <a:ext cx="228600" cy="228600"/>
          </a:xfrm>
          <a:prstGeom prst="roundRect">
            <a:avLst>
              <a:gd name="adj" fmla="val 50000"/>
            </a:avLst>
          </a:prstGeom>
          <a:solidFill>
            <a:srgbClr val="E9A23B"/>
          </a:solidFill>
          <a:ln/>
        </p:spPr>
        <p:txBody>
          <a:bodyPr/>
          <a:lstStyle/>
          <a:p>
            <a:endParaRPr lang="es-CO"/>
          </a:p>
        </p:txBody>
      </p:sp>
      <p:sp>
        <p:nvSpPr>
          <p:cNvPr id="97" name="Shape 95"/>
          <p:cNvSpPr/>
          <p:nvPr/>
        </p:nvSpPr>
        <p:spPr>
          <a:xfrm>
            <a:off x="1727200" y="4704655"/>
            <a:ext cx="228600" cy="228600"/>
          </a:xfrm>
          <a:prstGeom prst="roundRect">
            <a:avLst>
              <a:gd name="adj" fmla="val 50000"/>
            </a:avLst>
          </a:prstGeom>
          <a:solidFill>
            <a:srgbClr val="CFCBBE"/>
          </a:solidFill>
          <a:ln/>
        </p:spPr>
        <p:txBody>
          <a:bodyPr/>
          <a:lstStyle/>
          <a:p>
            <a:endParaRPr lang="es-CO"/>
          </a:p>
        </p:txBody>
      </p:sp>
      <p:sp>
        <p:nvSpPr>
          <p:cNvPr id="98" name="Shape 96"/>
          <p:cNvSpPr/>
          <p:nvPr/>
        </p:nvSpPr>
        <p:spPr>
          <a:xfrm>
            <a:off x="2032000" y="4704655"/>
            <a:ext cx="228600" cy="228600"/>
          </a:xfrm>
          <a:prstGeom prst="roundRect">
            <a:avLst>
              <a:gd name="adj" fmla="val 50000"/>
            </a:avLst>
          </a:prstGeom>
          <a:solidFill>
            <a:srgbClr val="CFCBBE"/>
          </a:solidFill>
          <a:ln/>
        </p:spPr>
        <p:txBody>
          <a:bodyPr/>
          <a:lstStyle/>
          <a:p>
            <a:endParaRPr lang="es-CO"/>
          </a:p>
        </p:txBody>
      </p:sp>
      <p:sp>
        <p:nvSpPr>
          <p:cNvPr id="99" name="Shape 97"/>
          <p:cNvSpPr/>
          <p:nvPr/>
        </p:nvSpPr>
        <p:spPr>
          <a:xfrm>
            <a:off x="2336800" y="4704655"/>
            <a:ext cx="228600" cy="228600"/>
          </a:xfrm>
          <a:prstGeom prst="roundRect">
            <a:avLst>
              <a:gd name="adj" fmla="val 50000"/>
            </a:avLst>
          </a:prstGeom>
          <a:solidFill>
            <a:srgbClr val="E9A23B"/>
          </a:solidFill>
          <a:ln/>
        </p:spPr>
        <p:txBody>
          <a:bodyPr/>
          <a:lstStyle/>
          <a:p>
            <a:endParaRPr lang="es-CO"/>
          </a:p>
        </p:txBody>
      </p:sp>
      <p:sp>
        <p:nvSpPr>
          <p:cNvPr id="100" name="Shape 98"/>
          <p:cNvSpPr/>
          <p:nvPr/>
        </p:nvSpPr>
        <p:spPr>
          <a:xfrm>
            <a:off x="2641600" y="4704655"/>
            <a:ext cx="228600" cy="228600"/>
          </a:xfrm>
          <a:prstGeom prst="roundRect">
            <a:avLst>
              <a:gd name="adj" fmla="val 50000"/>
            </a:avLst>
          </a:prstGeom>
          <a:solidFill>
            <a:srgbClr val="CFCBBE"/>
          </a:solidFill>
          <a:ln/>
        </p:spPr>
        <p:txBody>
          <a:bodyPr/>
          <a:lstStyle/>
          <a:p>
            <a:endParaRPr lang="es-CO"/>
          </a:p>
        </p:txBody>
      </p:sp>
      <p:sp>
        <p:nvSpPr>
          <p:cNvPr id="101" name="Shape 99"/>
          <p:cNvSpPr/>
          <p:nvPr/>
        </p:nvSpPr>
        <p:spPr>
          <a:xfrm>
            <a:off x="2946400" y="4704655"/>
            <a:ext cx="228600" cy="228600"/>
          </a:xfrm>
          <a:prstGeom prst="roundRect">
            <a:avLst>
              <a:gd name="adj" fmla="val 50000"/>
            </a:avLst>
          </a:prstGeom>
          <a:solidFill>
            <a:srgbClr val="E9A23B"/>
          </a:solidFill>
          <a:ln/>
        </p:spPr>
        <p:txBody>
          <a:bodyPr/>
          <a:lstStyle/>
          <a:p>
            <a:endParaRPr lang="es-CO"/>
          </a:p>
        </p:txBody>
      </p:sp>
      <p:sp>
        <p:nvSpPr>
          <p:cNvPr id="102" name="Shape 100"/>
          <p:cNvSpPr/>
          <p:nvPr/>
        </p:nvSpPr>
        <p:spPr>
          <a:xfrm>
            <a:off x="3251200" y="4704655"/>
            <a:ext cx="228600" cy="228600"/>
          </a:xfrm>
          <a:prstGeom prst="roundRect">
            <a:avLst>
              <a:gd name="adj" fmla="val 50000"/>
            </a:avLst>
          </a:prstGeom>
          <a:solidFill>
            <a:srgbClr val="E9A23B"/>
          </a:solidFill>
          <a:ln/>
        </p:spPr>
        <p:txBody>
          <a:bodyPr/>
          <a:lstStyle/>
          <a:p>
            <a:endParaRPr lang="es-CO"/>
          </a:p>
        </p:txBody>
      </p:sp>
      <p:sp>
        <p:nvSpPr>
          <p:cNvPr id="103" name="Shape 101"/>
          <p:cNvSpPr/>
          <p:nvPr/>
        </p:nvSpPr>
        <p:spPr>
          <a:xfrm>
            <a:off x="3556000" y="4704655"/>
            <a:ext cx="228600" cy="228600"/>
          </a:xfrm>
          <a:prstGeom prst="roundRect">
            <a:avLst>
              <a:gd name="adj" fmla="val 50000"/>
            </a:avLst>
          </a:prstGeom>
          <a:solidFill>
            <a:srgbClr val="CFCBBE"/>
          </a:solidFill>
          <a:ln/>
        </p:spPr>
        <p:txBody>
          <a:bodyPr/>
          <a:lstStyle/>
          <a:p>
            <a:endParaRPr lang="es-CO"/>
          </a:p>
        </p:txBody>
      </p:sp>
      <p:sp>
        <p:nvSpPr>
          <p:cNvPr id="104" name="Text 102"/>
          <p:cNvSpPr/>
          <p:nvPr/>
        </p:nvSpPr>
        <p:spPr>
          <a:xfrm>
            <a:off x="812800" y="4964807"/>
            <a:ext cx="3139440" cy="902593"/>
          </a:xfrm>
          <a:prstGeom prst="rect">
            <a:avLst/>
          </a:prstGeom>
          <a:noFill/>
          <a:ln/>
        </p:spPr>
        <p:txBody>
          <a:bodyPr wrap="square" lIns="0" tIns="0" rIns="0" bIns="0" rtlCol="0" anchor="t">
            <a:normAutofit/>
          </a:bodyPr>
          <a:lstStyle/>
          <a:p>
            <a:pPr marL="0" indent="0" algn="l">
              <a:lnSpc>
                <a:spcPts val="1746"/>
              </a:lnSpc>
              <a:buNone/>
            </a:pPr>
            <a:r>
              <a:rPr lang="en-US" sz="1343" b="1" dirty="0">
                <a:solidFill>
                  <a:srgbClr val="16222F"/>
                </a:solidFill>
                <a:latin typeface="Arial" pitchFamily="34" charset="0"/>
                <a:ea typeface="Arial" pitchFamily="34" charset="-122"/>
                <a:cs typeface="Arial" pitchFamily="34" charset="-120"/>
              </a:rPr>
              <a:t>22 de cada 100</a:t>
            </a:r>
            <a:r>
              <a:rPr lang="en-US" sz="1343" dirty="0">
                <a:solidFill>
                  <a:srgbClr val="55606B"/>
                </a:solidFill>
                <a:latin typeface="Arial" pitchFamily="34" charset="0"/>
                <a:ea typeface="Arial" pitchFamily="34" charset="-122"/>
                <a:cs typeface="Arial" pitchFamily="34" charset="-120"/>
              </a:rPr>
              <a:t> vuelos llegaron con 15 minutos o más de retraso (ene–jul 2022). Las fichas ámbar son esos vuelos.</a:t>
            </a:r>
            <a:endParaRPr lang="en-US" sz="1343" dirty="0"/>
          </a:p>
        </p:txBody>
      </p:sp>
      <p:sp>
        <p:nvSpPr>
          <p:cNvPr id="105" name="Text 103"/>
          <p:cNvSpPr/>
          <p:nvPr/>
        </p:nvSpPr>
        <p:spPr>
          <a:xfrm>
            <a:off x="4318000" y="1961455"/>
            <a:ext cx="7273036" cy="27305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5606B"/>
                </a:solidFill>
                <a:latin typeface="Arial" pitchFamily="34" charset="0"/>
                <a:ea typeface="Arial" pitchFamily="34" charset="-122"/>
                <a:cs typeface="Arial" pitchFamily="34" charset="-120"/>
              </a:rPr>
              <a:t>La pregunta</a:t>
            </a:r>
            <a:endParaRPr lang="en-US" sz="1400" dirty="0"/>
          </a:p>
        </p:txBody>
      </p:sp>
      <p:sp>
        <p:nvSpPr>
          <p:cNvPr id="106" name="Text 104"/>
          <p:cNvSpPr/>
          <p:nvPr/>
        </p:nvSpPr>
        <p:spPr>
          <a:xfrm>
            <a:off x="4318000" y="2285305"/>
            <a:ext cx="7273036" cy="977900"/>
          </a:xfrm>
          <a:prstGeom prst="rect">
            <a:avLst/>
          </a:prstGeom>
          <a:noFill/>
          <a:ln/>
        </p:spPr>
        <p:txBody>
          <a:bodyPr wrap="square" lIns="0" tIns="0" rIns="0" bIns="0" rtlCol="0" anchor="t">
            <a:normAutofit/>
          </a:bodyPr>
          <a:lstStyle/>
          <a:p>
            <a:pPr marL="0" indent="0" algn="l">
              <a:lnSpc>
                <a:spcPts val="2500"/>
              </a:lnSpc>
              <a:buNone/>
            </a:pPr>
            <a:r>
              <a:rPr lang="en-US" sz="2000" dirty="0">
                <a:solidFill>
                  <a:srgbClr val="16222F"/>
                </a:solidFill>
                <a:latin typeface="Arial" pitchFamily="34" charset="0"/>
                <a:ea typeface="Arial" pitchFamily="34" charset="-122"/>
                <a:cs typeface="Arial" pitchFamily="34" charset="-120"/>
              </a:rPr>
              <a:t>¿Qué vuelos tienen mayor riesgo de llegar 15 min tarde, calculado 24 h antes?</a:t>
            </a:r>
            <a:endParaRPr lang="en-US" sz="2000" dirty="0"/>
          </a:p>
        </p:txBody>
      </p:sp>
      <p:sp>
        <p:nvSpPr>
          <p:cNvPr id="107" name="Shape 105"/>
          <p:cNvSpPr/>
          <p:nvPr/>
        </p:nvSpPr>
        <p:spPr>
          <a:xfrm>
            <a:off x="4321175" y="3444180"/>
            <a:ext cx="2262684" cy="990600"/>
          </a:xfrm>
          <a:prstGeom prst="roundRect">
            <a:avLst>
              <a:gd name="adj" fmla="val 9936"/>
            </a:avLst>
          </a:prstGeom>
          <a:solidFill>
            <a:srgbClr val="FBFAF6"/>
          </a:solidFill>
          <a:ln w="6350">
            <a:solidFill>
              <a:srgbClr val="DAD6C8"/>
            </a:solidFill>
            <a:prstDash val="solid"/>
          </a:ln>
        </p:spPr>
        <p:txBody>
          <a:bodyPr/>
          <a:lstStyle/>
          <a:p>
            <a:endParaRPr lang="es-CO"/>
          </a:p>
        </p:txBody>
      </p:sp>
      <p:sp>
        <p:nvSpPr>
          <p:cNvPr id="108" name="Text 106"/>
          <p:cNvSpPr/>
          <p:nvPr/>
        </p:nvSpPr>
        <p:spPr>
          <a:xfrm>
            <a:off x="4476750" y="3599755"/>
            <a:ext cx="2010080"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6B7B"/>
                </a:solidFill>
                <a:latin typeface="Arial" pitchFamily="34" charset="0"/>
                <a:ea typeface="Arial" pitchFamily="34" charset="-122"/>
                <a:cs typeface="Arial" pitchFamily="34" charset="-120"/>
              </a:rPr>
              <a:t>Usuario</a:t>
            </a:r>
            <a:endParaRPr lang="en-US" sz="1200" dirty="0"/>
          </a:p>
        </p:txBody>
      </p:sp>
      <p:sp>
        <p:nvSpPr>
          <p:cNvPr id="109" name="Text 107"/>
          <p:cNvSpPr/>
          <p:nvPr/>
        </p:nvSpPr>
        <p:spPr>
          <a:xfrm>
            <a:off x="4476750" y="3860105"/>
            <a:ext cx="2010080"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6222F"/>
                </a:solidFill>
                <a:latin typeface="Arial" pitchFamily="34" charset="0"/>
                <a:ea typeface="Arial" pitchFamily="34" charset="-122"/>
                <a:cs typeface="Arial" pitchFamily="34" charset="-120"/>
              </a:rPr>
              <a:t>Equipo de planificación de aerolínea</a:t>
            </a:r>
            <a:endParaRPr lang="en-US" sz="1300" dirty="0"/>
          </a:p>
        </p:txBody>
      </p:sp>
      <p:sp>
        <p:nvSpPr>
          <p:cNvPr id="110" name="Shape 108"/>
          <p:cNvSpPr/>
          <p:nvPr/>
        </p:nvSpPr>
        <p:spPr>
          <a:xfrm>
            <a:off x="6717209" y="3444180"/>
            <a:ext cx="2262684" cy="990600"/>
          </a:xfrm>
          <a:prstGeom prst="roundRect">
            <a:avLst>
              <a:gd name="adj" fmla="val 9936"/>
            </a:avLst>
          </a:prstGeom>
          <a:solidFill>
            <a:srgbClr val="FBFAF6"/>
          </a:solidFill>
          <a:ln w="6350">
            <a:solidFill>
              <a:srgbClr val="DAD6C8"/>
            </a:solidFill>
            <a:prstDash val="solid"/>
          </a:ln>
        </p:spPr>
        <p:txBody>
          <a:bodyPr/>
          <a:lstStyle/>
          <a:p>
            <a:endParaRPr lang="es-CO"/>
          </a:p>
        </p:txBody>
      </p:sp>
      <p:sp>
        <p:nvSpPr>
          <p:cNvPr id="111" name="Text 109"/>
          <p:cNvSpPr/>
          <p:nvPr/>
        </p:nvSpPr>
        <p:spPr>
          <a:xfrm>
            <a:off x="6872784" y="3599755"/>
            <a:ext cx="2010080"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6B7B"/>
                </a:solidFill>
                <a:latin typeface="Arial" pitchFamily="34" charset="0"/>
                <a:ea typeface="Arial" pitchFamily="34" charset="-122"/>
                <a:cs typeface="Arial" pitchFamily="34" charset="-120"/>
              </a:rPr>
              <a:t>Unidad</a:t>
            </a:r>
            <a:endParaRPr lang="en-US" sz="1200" dirty="0"/>
          </a:p>
        </p:txBody>
      </p:sp>
      <p:sp>
        <p:nvSpPr>
          <p:cNvPr id="112" name="Text 110"/>
          <p:cNvSpPr/>
          <p:nvPr/>
        </p:nvSpPr>
        <p:spPr>
          <a:xfrm>
            <a:off x="6872784" y="3860105"/>
            <a:ext cx="2010080" cy="23495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6222F"/>
                </a:solidFill>
                <a:latin typeface="Arial" pitchFamily="34" charset="0"/>
                <a:ea typeface="Arial" pitchFamily="34" charset="-122"/>
                <a:cs typeface="Arial" pitchFamily="34" charset="-120"/>
              </a:rPr>
              <a:t>Un vuelo programado</a:t>
            </a:r>
            <a:endParaRPr lang="en-US" sz="1300" dirty="0"/>
          </a:p>
        </p:txBody>
      </p:sp>
      <p:sp>
        <p:nvSpPr>
          <p:cNvPr id="113" name="Shape 111"/>
          <p:cNvSpPr/>
          <p:nvPr/>
        </p:nvSpPr>
        <p:spPr>
          <a:xfrm>
            <a:off x="9113242" y="3444180"/>
            <a:ext cx="2262684" cy="990600"/>
          </a:xfrm>
          <a:prstGeom prst="roundRect">
            <a:avLst>
              <a:gd name="adj" fmla="val 9936"/>
            </a:avLst>
          </a:prstGeom>
          <a:solidFill>
            <a:srgbClr val="FBFAF6"/>
          </a:solidFill>
          <a:ln w="6350">
            <a:solidFill>
              <a:srgbClr val="DAD6C8"/>
            </a:solidFill>
            <a:prstDash val="solid"/>
          </a:ln>
        </p:spPr>
        <p:txBody>
          <a:bodyPr/>
          <a:lstStyle/>
          <a:p>
            <a:endParaRPr lang="es-CO"/>
          </a:p>
        </p:txBody>
      </p:sp>
      <p:sp>
        <p:nvSpPr>
          <p:cNvPr id="114" name="Text 112"/>
          <p:cNvSpPr/>
          <p:nvPr/>
        </p:nvSpPr>
        <p:spPr>
          <a:xfrm>
            <a:off x="9268817" y="3599755"/>
            <a:ext cx="2010080"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6B7B"/>
                </a:solidFill>
                <a:latin typeface="Arial" pitchFamily="34" charset="0"/>
                <a:ea typeface="Arial" pitchFamily="34" charset="-122"/>
                <a:cs typeface="Arial" pitchFamily="34" charset="-120"/>
              </a:rPr>
              <a:t>Alcance</a:t>
            </a:r>
            <a:endParaRPr lang="en-US" sz="1200" dirty="0"/>
          </a:p>
        </p:txBody>
      </p:sp>
      <p:sp>
        <p:nvSpPr>
          <p:cNvPr id="115" name="Text 113"/>
          <p:cNvSpPr/>
          <p:nvPr/>
        </p:nvSpPr>
        <p:spPr>
          <a:xfrm>
            <a:off x="9268817" y="3860105"/>
            <a:ext cx="2010080"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6222F"/>
                </a:solidFill>
                <a:latin typeface="Arial" pitchFamily="34" charset="0"/>
                <a:ea typeface="Arial" pitchFamily="34" charset="-122"/>
                <a:cs typeface="Arial" pitchFamily="34" charset="-120"/>
              </a:rPr>
              <a:t>Todos; alertas para riesgo alto</a:t>
            </a:r>
            <a:endParaRPr lang="en-US" sz="1300" dirty="0"/>
          </a:p>
        </p:txBody>
      </p:sp>
      <p:sp>
        <p:nvSpPr>
          <p:cNvPr id="116" name="Shape 114"/>
          <p:cNvSpPr/>
          <p:nvPr/>
        </p:nvSpPr>
        <p:spPr>
          <a:xfrm>
            <a:off x="4318000" y="4641155"/>
            <a:ext cx="7061200" cy="552450"/>
          </a:xfrm>
          <a:prstGeom prst="roundRect">
            <a:avLst>
              <a:gd name="adj" fmla="val 18391"/>
            </a:avLst>
          </a:prstGeom>
          <a:solidFill>
            <a:srgbClr val="E9A23B"/>
          </a:solidFill>
          <a:ln/>
        </p:spPr>
        <p:txBody>
          <a:bodyPr/>
          <a:lstStyle/>
          <a:p>
            <a:endParaRPr lang="es-CO"/>
          </a:p>
        </p:txBody>
      </p:sp>
      <p:sp>
        <p:nvSpPr>
          <p:cNvPr id="117" name="Text 115"/>
          <p:cNvSpPr/>
          <p:nvPr/>
        </p:nvSpPr>
        <p:spPr>
          <a:xfrm>
            <a:off x="4521200" y="4768155"/>
            <a:ext cx="6854444" cy="32385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3243B"/>
                </a:solidFill>
                <a:latin typeface="Arial" pitchFamily="34" charset="0"/>
                <a:ea typeface="Arial" pitchFamily="34" charset="-122"/>
                <a:cs typeface="Arial" pitchFamily="34" charset="-120"/>
              </a:rPr>
              <a:t>EE. UU. como base; Colombia como propuesta; 24 h es un supuesto.</a:t>
            </a:r>
            <a:endParaRPr lang="en-US" sz="1700" dirty="0"/>
          </a:p>
        </p:txBody>
      </p:sp>
      <p:sp>
        <p:nvSpPr>
          <p:cNvPr id="118" name="Text 116"/>
          <p:cNvSpPr/>
          <p:nvPr/>
        </p:nvSpPr>
        <p:spPr>
          <a:xfrm>
            <a:off x="812800" y="6242050"/>
            <a:ext cx="85026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Priorización de vuelos con riesgo de retraso · Herramientas de Big Data</a:t>
            </a:r>
            <a:endParaRPr lang="en-US" sz="1200" dirty="0"/>
          </a:p>
        </p:txBody>
      </p:sp>
      <p:sp>
        <p:nvSpPr>
          <p:cNvPr id="119" name="Text 117"/>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ns2="http://schemas.openxmlformats.org/officeDocument/2006/relationships" xmlns:p="http://schemas.openxmlformats.org/presentationml/2006/main">
  <p:cSld name="Slide 3">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76B7B"/>
                </a:solidFill>
                <a:latin typeface="Arial" pitchFamily="34" charset="0"/>
                <a:ea typeface="Arial" pitchFamily="34" charset="-122"/>
                <a:cs typeface="Arial" pitchFamily="34" charset="-120"/>
              </a:rPr>
              <a:t>2 · LOS DATOS</a:t>
            </a:r>
            <a:endParaRPr lang="en-US" sz="1400" dirty="0"/>
          </a:p>
        </p:txBody>
      </p:sp>
      <p:sp>
        <p:nvSpPr>
          <p:cNvPr id="3" name="Text 1"/>
          <p:cNvSpPr>
            <a:spLocks noGrp="1"/>
          </p:cNvSpPr>
          <p:nvPr>
            <p:ph type="title"/>
          </p:nvPr>
        </p:nvSpPr>
        <p:spPr>
          <a:xfrm>
            <a:off x="812800" y="131445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22F"/>
                </a:solidFill>
                <a:latin typeface="Arial" pitchFamily="34" charset="0"/>
                <a:ea typeface="Arial" pitchFamily="34" charset="-122"/>
                <a:cs typeface="Arial" pitchFamily="34" charset="-120"/>
              </a:rPr>
              <a:t>El CSV de 10,21 GB se transforma en un Parquet analítico de 0,679 GB</a:t>
            </a:r>
            <a:endParaRPr lang="en-US" sz="3000" dirty="0"/>
          </a:p>
        </p:txBody>
      </p:sp>
      <p:sp>
        <p:nvSpPr>
          <p:cNvPr id="4" name="Shape 2"/>
          <p:cNvSpPr/>
          <p:nvPr/>
        </p:nvSpPr>
        <p:spPr>
          <a:xfrm>
            <a:off x="815975" y="1990725"/>
            <a:ext cx="2524125" cy="1250950"/>
          </a:xfrm>
          <a:prstGeom prst="roundRect">
            <a:avLst>
              <a:gd name="adj" fmla="val 7868"/>
            </a:avLst>
          </a:prstGeom>
          <a:solidFill>
            <a:srgbClr val="FBFAF6"/>
          </a:solidFill>
          <a:ln w="6350">
            <a:solidFill>
              <a:srgbClr val="DAD6C8"/>
            </a:solidFill>
            <a:prstDash val="solid"/>
          </a:ln>
        </p:spPr>
        <p:txBody>
          <a:bodyPr/>
          <a:lstStyle/>
          <a:p>
            <a:endParaRPr lang="es-CO"/>
          </a:p>
        </p:txBody>
      </p:sp>
      <p:sp>
        <p:nvSpPr>
          <p:cNvPr id="5" name="Text 3"/>
          <p:cNvSpPr/>
          <p:nvPr/>
        </p:nvSpPr>
        <p:spPr>
          <a:xfrm>
            <a:off x="996950" y="2171700"/>
            <a:ext cx="2227040"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76B7B"/>
                </a:solidFill>
                <a:latin typeface="Arial" pitchFamily="34" charset="0"/>
                <a:ea typeface="Arial" pitchFamily="34" charset="-122"/>
                <a:cs typeface="Arial" pitchFamily="34" charset="-120"/>
              </a:rPr>
              <a:t>10,21 GB</a:t>
            </a:r>
            <a:endParaRPr lang="en-US" sz="3000" dirty="0"/>
          </a:p>
        </p:txBody>
      </p:sp>
      <p:sp>
        <p:nvSpPr>
          <p:cNvPr id="6" name="Text 4"/>
          <p:cNvSpPr/>
          <p:nvPr/>
        </p:nvSpPr>
        <p:spPr>
          <a:xfrm>
            <a:off x="996950" y="2641600"/>
            <a:ext cx="2227040" cy="23495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CSV original de Kaggle</a:t>
            </a:r>
            <a:endParaRPr lang="en-US" sz="1300" dirty="0"/>
          </a:p>
        </p:txBody>
      </p:sp>
      <p:sp>
        <p:nvSpPr>
          <p:cNvPr id="7" name="Shape 5"/>
          <p:cNvSpPr/>
          <p:nvPr/>
        </p:nvSpPr>
        <p:spPr>
          <a:xfrm>
            <a:off x="3498850" y="1990725"/>
            <a:ext cx="2524125" cy="1250950"/>
          </a:xfrm>
          <a:prstGeom prst="roundRect">
            <a:avLst>
              <a:gd name="adj" fmla="val 7868"/>
            </a:avLst>
          </a:prstGeom>
          <a:solidFill>
            <a:srgbClr val="FBFAF6"/>
          </a:solidFill>
          <a:ln w="6350">
            <a:solidFill>
              <a:srgbClr val="DAD6C8"/>
            </a:solidFill>
            <a:prstDash val="solid"/>
          </a:ln>
        </p:spPr>
        <p:txBody>
          <a:bodyPr/>
          <a:lstStyle/>
          <a:p>
            <a:endParaRPr lang="es-CO"/>
          </a:p>
        </p:txBody>
      </p:sp>
      <p:sp>
        <p:nvSpPr>
          <p:cNvPr id="8" name="Text 6"/>
          <p:cNvSpPr/>
          <p:nvPr/>
        </p:nvSpPr>
        <p:spPr>
          <a:xfrm>
            <a:off x="3679825" y="2171700"/>
            <a:ext cx="2227040"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76B7B"/>
                </a:solidFill>
                <a:latin typeface="Arial" pitchFamily="34" charset="0"/>
                <a:ea typeface="Arial" pitchFamily="34" charset="-122"/>
                <a:cs typeface="Arial" pitchFamily="34" charset="-120"/>
              </a:rPr>
              <a:t>24,17 M</a:t>
            </a:r>
            <a:endParaRPr lang="en-US" sz="3000" dirty="0"/>
          </a:p>
        </p:txBody>
      </p:sp>
      <p:sp>
        <p:nvSpPr>
          <p:cNvPr id="9" name="Text 7"/>
          <p:cNvSpPr/>
          <p:nvPr/>
        </p:nvSpPr>
        <p:spPr>
          <a:xfrm>
            <a:off x="3679825" y="2641600"/>
            <a:ext cx="2227040"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vuelos sin 2020 y 61 columnas</a:t>
            </a:r>
            <a:endParaRPr lang="en-US" sz="1300" dirty="0"/>
          </a:p>
        </p:txBody>
      </p:sp>
      <p:sp>
        <p:nvSpPr>
          <p:cNvPr id="10" name="Shape 8"/>
          <p:cNvSpPr/>
          <p:nvPr/>
        </p:nvSpPr>
        <p:spPr>
          <a:xfrm>
            <a:off x="6181725" y="1990725"/>
            <a:ext cx="2524125" cy="1250950"/>
          </a:xfrm>
          <a:prstGeom prst="roundRect">
            <a:avLst>
              <a:gd name="adj" fmla="val 7868"/>
            </a:avLst>
          </a:prstGeom>
          <a:solidFill>
            <a:srgbClr val="FBFAF6"/>
          </a:solidFill>
          <a:ln w="6350">
            <a:solidFill>
              <a:srgbClr val="DAD6C8"/>
            </a:solidFill>
            <a:prstDash val="solid"/>
          </a:ln>
        </p:spPr>
        <p:txBody>
          <a:bodyPr/>
          <a:lstStyle/>
          <a:p>
            <a:endParaRPr lang="es-CO"/>
          </a:p>
        </p:txBody>
      </p:sp>
      <p:sp>
        <p:nvSpPr>
          <p:cNvPr id="11" name="Text 9"/>
          <p:cNvSpPr/>
          <p:nvPr/>
        </p:nvSpPr>
        <p:spPr>
          <a:xfrm>
            <a:off x="6362700" y="2171700"/>
            <a:ext cx="2227040"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76B7B"/>
                </a:solidFill>
                <a:latin typeface="Arial" pitchFamily="34" charset="0"/>
                <a:ea typeface="Arial" pitchFamily="34" charset="-122"/>
                <a:cs typeface="Arial" pitchFamily="34" charset="-120"/>
              </a:rPr>
              <a:t>2018–2022</a:t>
            </a:r>
            <a:endParaRPr lang="en-US" sz="3000" dirty="0"/>
          </a:p>
        </p:txBody>
      </p:sp>
      <p:sp>
        <p:nvSpPr>
          <p:cNvPr id="12" name="Text 10"/>
          <p:cNvSpPr/>
          <p:nvPr/>
        </p:nvSpPr>
        <p:spPr>
          <a:xfrm>
            <a:off x="6362700" y="2641600"/>
            <a:ext cx="2227040"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de enero de 2018 a julio de 2022</a:t>
            </a:r>
            <a:endParaRPr lang="en-US" sz="1300" dirty="0"/>
          </a:p>
        </p:txBody>
      </p:sp>
      <p:sp>
        <p:nvSpPr>
          <p:cNvPr id="13" name="Shape 11"/>
          <p:cNvSpPr/>
          <p:nvPr/>
        </p:nvSpPr>
        <p:spPr>
          <a:xfrm>
            <a:off x="8861425" y="1987550"/>
            <a:ext cx="2517775" cy="1257300"/>
          </a:xfrm>
          <a:prstGeom prst="roundRect">
            <a:avLst>
              <a:gd name="adj" fmla="val 8081"/>
            </a:avLst>
          </a:prstGeom>
          <a:solidFill>
            <a:srgbClr val="13243B"/>
          </a:solidFill>
          <a:ln/>
        </p:spPr>
        <p:txBody>
          <a:bodyPr/>
          <a:lstStyle/>
          <a:p>
            <a:endParaRPr lang="es-CO"/>
          </a:p>
        </p:txBody>
      </p:sp>
      <p:sp>
        <p:nvSpPr>
          <p:cNvPr id="14" name="Text 12"/>
          <p:cNvSpPr/>
          <p:nvPr/>
        </p:nvSpPr>
        <p:spPr>
          <a:xfrm>
            <a:off x="9039225" y="2165350"/>
            <a:ext cx="2227040"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E9A23B"/>
                </a:solidFill>
                <a:latin typeface="Arial" pitchFamily="34" charset="0"/>
                <a:ea typeface="Arial" pitchFamily="34" charset="-122"/>
                <a:cs typeface="Arial" pitchFamily="34" charset="-120"/>
              </a:rPr>
              <a:t>0,679 GB</a:t>
            </a:r>
            <a:endParaRPr lang="en-US" sz="3000" dirty="0"/>
          </a:p>
        </p:txBody>
      </p:sp>
      <p:sp>
        <p:nvSpPr>
          <p:cNvPr id="15" name="Text 13"/>
          <p:cNvSpPr/>
          <p:nvPr/>
        </p:nvSpPr>
        <p:spPr>
          <a:xfrm>
            <a:off x="9039225" y="2635250"/>
            <a:ext cx="2227040"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B8C4D2"/>
                </a:solidFill>
                <a:latin typeface="Arial" pitchFamily="34" charset="0"/>
                <a:ea typeface="Arial" pitchFamily="34" charset="-122"/>
                <a:cs typeface="Arial" pitchFamily="34" charset="-120"/>
              </a:rPr>
              <a:t>Parquet analítico sin 2020</a:t>
            </a:r>
            <a:endParaRPr lang="en-US" sz="1300" dirty="0"/>
          </a:p>
        </p:txBody>
      </p:sp>
      <p:sp>
        <p:nvSpPr>
          <p:cNvPr id="16" name="Text 14"/>
          <p:cNvSpPr/>
          <p:nvPr/>
        </p:nvSpPr>
        <p:spPr>
          <a:xfrm>
            <a:off x="812800" y="34988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55606B"/>
                </a:solidFill>
                <a:latin typeface="Arial" pitchFamily="34" charset="0"/>
                <a:ea typeface="Arial" pitchFamily="34" charset="-122"/>
                <a:cs typeface="Arial" pitchFamily="34" charset="-120"/>
              </a:rPr>
              <a:t>Cómo lo resolvimos</a:t>
            </a:r>
            <a:endParaRPr lang="en-US" sz="1500" dirty="0"/>
          </a:p>
        </p:txBody>
      </p:sp>
      <p:sp>
        <p:nvSpPr>
          <p:cNvPr id="17" name="Shape 15"/>
          <p:cNvSpPr/>
          <p:nvPr/>
        </p:nvSpPr>
        <p:spPr>
          <a:xfrm>
            <a:off x="815975" y="4022725"/>
            <a:ext cx="2254250" cy="1257300"/>
          </a:xfrm>
          <a:prstGeom prst="roundRect">
            <a:avLst>
              <a:gd name="adj" fmla="val 7828"/>
            </a:avLst>
          </a:prstGeom>
          <a:solidFill>
            <a:srgbClr val="FBFAF6"/>
          </a:solidFill>
          <a:ln w="6350">
            <a:solidFill>
              <a:srgbClr val="DAD6C8"/>
            </a:solidFill>
            <a:prstDash val="solid"/>
          </a:ln>
        </p:spPr>
        <p:txBody>
          <a:bodyPr/>
          <a:lstStyle/>
          <a:p>
            <a:endParaRPr lang="es-CO"/>
          </a:p>
        </p:txBody>
      </p:sp>
      <p:sp>
        <p:nvSpPr>
          <p:cNvPr id="18" name="Text 16"/>
          <p:cNvSpPr/>
          <p:nvPr/>
        </p:nvSpPr>
        <p:spPr>
          <a:xfrm>
            <a:off x="971550" y="4178300"/>
            <a:ext cx="200139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6B7B"/>
                </a:solidFill>
                <a:latin typeface="Arial" pitchFamily="34" charset="0"/>
                <a:ea typeface="Arial" pitchFamily="34" charset="-122"/>
                <a:cs typeface="Arial" pitchFamily="34" charset="-120"/>
              </a:rPr>
              <a:t>1 · Origen</a:t>
            </a:r>
            <a:endParaRPr lang="en-US" sz="1200" dirty="0"/>
          </a:p>
        </p:txBody>
      </p:sp>
      <p:sp>
        <p:nvSpPr>
          <p:cNvPr id="19" name="Text 17"/>
          <p:cNvSpPr/>
          <p:nvPr/>
        </p:nvSpPr>
        <p:spPr>
          <a:xfrm>
            <a:off x="971550" y="4438650"/>
            <a:ext cx="2001393" cy="7112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6222F"/>
                </a:solidFill>
                <a:latin typeface="Arial" pitchFamily="34" charset="0"/>
                <a:ea typeface="Arial" pitchFamily="34" charset="-122"/>
                <a:cs typeface="Arial" pitchFamily="34" charset="-120"/>
              </a:rPr>
              <a:t>CSV de 10,21 GB, demasiado grande para abrirlo</a:t>
            </a:r>
            <a:endParaRPr lang="en-US" sz="1400" dirty="0"/>
          </a:p>
        </p:txBody>
      </p:sp>
      <p:pic>
        <p:nvPicPr>
          <p:cNvPr id="20" name="Image 0" descr="arrow-right"/>
          <p:cNvPicPr>
            <a:picLocks noChangeAspect="1"/>
          </p:cNvPicPr>
          <p:nvPr/>
        </p:nvPicPr>
        <p:blipFill>
          <a:blip ns2:embed="rId3"/>
          <a:srcRect/>
          <a:stretch/>
        </p:blipFill>
        <p:spPr>
          <a:xfrm>
            <a:off x="3175000" y="4549775"/>
            <a:ext cx="304800" cy="203200"/>
          </a:xfrm>
          <a:prstGeom prst="rect">
            <a:avLst/>
          </a:prstGeom>
        </p:spPr>
      </p:pic>
      <p:sp>
        <p:nvSpPr>
          <p:cNvPr id="21" name="Shape 18"/>
          <p:cNvSpPr/>
          <p:nvPr/>
        </p:nvSpPr>
        <p:spPr>
          <a:xfrm>
            <a:off x="3584575" y="4022725"/>
            <a:ext cx="2254250" cy="1257300"/>
          </a:xfrm>
          <a:prstGeom prst="roundRect">
            <a:avLst>
              <a:gd name="adj" fmla="val 7828"/>
            </a:avLst>
          </a:prstGeom>
          <a:solidFill>
            <a:srgbClr val="FBFAF6"/>
          </a:solidFill>
          <a:ln w="6350">
            <a:solidFill>
              <a:srgbClr val="DAD6C8"/>
            </a:solidFill>
            <a:prstDash val="solid"/>
          </a:ln>
        </p:spPr>
        <p:txBody>
          <a:bodyPr/>
          <a:lstStyle/>
          <a:p>
            <a:endParaRPr lang="es-CO"/>
          </a:p>
        </p:txBody>
      </p:sp>
      <p:sp>
        <p:nvSpPr>
          <p:cNvPr id="22" name="Text 19"/>
          <p:cNvSpPr/>
          <p:nvPr/>
        </p:nvSpPr>
        <p:spPr>
          <a:xfrm>
            <a:off x="3740150" y="4178300"/>
            <a:ext cx="200139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6B7B"/>
                </a:solidFill>
                <a:latin typeface="Arial" pitchFamily="34" charset="0"/>
                <a:ea typeface="Arial" pitchFamily="34" charset="-122"/>
                <a:cs typeface="Arial" pitchFamily="34" charset="-120"/>
              </a:rPr>
              <a:t>2 · Parquet</a:t>
            </a:r>
            <a:endParaRPr lang="en-US" sz="1200" dirty="0"/>
          </a:p>
        </p:txBody>
      </p:sp>
      <p:sp>
        <p:nvSpPr>
          <p:cNvPr id="23" name="Text 20"/>
          <p:cNvSpPr/>
          <p:nvPr/>
        </p:nvSpPr>
        <p:spPr>
          <a:xfrm>
            <a:off x="3740150" y="4438650"/>
            <a:ext cx="2001393" cy="7112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6222F"/>
                </a:solidFill>
                <a:latin typeface="Arial" pitchFamily="34" charset="0"/>
                <a:ea typeface="Arial" pitchFamily="34" charset="-122"/>
                <a:cs typeface="Arial" pitchFamily="34" charset="-120"/>
              </a:rPr>
              <a:t>Lectura por bloques de 8 MB; formato columnar, comprimido y verificado</a:t>
            </a:r>
            <a:endParaRPr lang="en-US" sz="1400" dirty="0"/>
          </a:p>
        </p:txBody>
      </p:sp>
      <p:pic>
        <p:nvPicPr>
          <p:cNvPr id="24" name="Image 1" descr="arrow-right"/>
          <p:cNvPicPr>
            <a:picLocks noChangeAspect="1"/>
          </p:cNvPicPr>
          <p:nvPr/>
        </p:nvPicPr>
        <p:blipFill>
          <a:blip ns2:embed="rId3"/>
          <a:srcRect/>
          <a:stretch/>
        </p:blipFill>
        <p:spPr>
          <a:xfrm>
            <a:off x="5943600" y="4549775"/>
            <a:ext cx="304800" cy="203200"/>
          </a:xfrm>
          <a:prstGeom prst="rect">
            <a:avLst/>
          </a:prstGeom>
        </p:spPr>
      </p:pic>
      <p:sp>
        <p:nvSpPr>
          <p:cNvPr id="25" name="Shape 21"/>
          <p:cNvSpPr/>
          <p:nvPr/>
        </p:nvSpPr>
        <p:spPr>
          <a:xfrm>
            <a:off x="6353175" y="4022725"/>
            <a:ext cx="2254250" cy="1257300"/>
          </a:xfrm>
          <a:prstGeom prst="roundRect">
            <a:avLst>
              <a:gd name="adj" fmla="val 7828"/>
            </a:avLst>
          </a:prstGeom>
          <a:solidFill>
            <a:srgbClr val="FBFAF6"/>
          </a:solidFill>
          <a:ln w="6350">
            <a:solidFill>
              <a:srgbClr val="DAD6C8"/>
            </a:solidFill>
            <a:prstDash val="solid"/>
          </a:ln>
        </p:spPr>
        <p:txBody>
          <a:bodyPr/>
          <a:lstStyle/>
          <a:p>
            <a:endParaRPr lang="es-CO"/>
          </a:p>
        </p:txBody>
      </p:sp>
      <p:sp>
        <p:nvSpPr>
          <p:cNvPr id="26" name="Text 22"/>
          <p:cNvSpPr/>
          <p:nvPr/>
        </p:nvSpPr>
        <p:spPr>
          <a:xfrm>
            <a:off x="6508750" y="4178300"/>
            <a:ext cx="200139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6B7B"/>
                </a:solidFill>
                <a:latin typeface="Arial" pitchFamily="34" charset="0"/>
                <a:ea typeface="Arial" pitchFamily="34" charset="-122"/>
                <a:cs typeface="Arial" pitchFamily="34" charset="-120"/>
              </a:rPr>
              <a:t>3 · DuckDB</a:t>
            </a:r>
            <a:endParaRPr lang="en-US" sz="1200" dirty="0"/>
          </a:p>
        </p:txBody>
      </p:sp>
      <p:sp>
        <p:nvSpPr>
          <p:cNvPr id="27" name="Text 23"/>
          <p:cNvSpPr/>
          <p:nvPr/>
        </p:nvSpPr>
        <p:spPr>
          <a:xfrm>
            <a:off x="6508750" y="4438650"/>
            <a:ext cx="2001393" cy="7112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6222F"/>
                </a:solidFill>
                <a:latin typeface="Arial" pitchFamily="34" charset="0"/>
                <a:ea typeface="Arial" pitchFamily="34" charset="-122"/>
                <a:cs typeface="Arial" pitchFamily="34" charset="-120"/>
              </a:rPr>
              <a:t>Consultas sin cargar todo el archivo (512 MB de RAM)</a:t>
            </a:r>
            <a:endParaRPr lang="en-US" sz="1400" dirty="0"/>
          </a:p>
        </p:txBody>
      </p:sp>
      <p:pic>
        <p:nvPicPr>
          <p:cNvPr id="28" name="Image 2" descr="arrow-right"/>
          <p:cNvPicPr>
            <a:picLocks noChangeAspect="1"/>
          </p:cNvPicPr>
          <p:nvPr/>
        </p:nvPicPr>
        <p:blipFill>
          <a:blip ns2:embed="rId3"/>
          <a:srcRect/>
          <a:stretch/>
        </p:blipFill>
        <p:spPr>
          <a:xfrm>
            <a:off x="8712200" y="4549775"/>
            <a:ext cx="304800" cy="203200"/>
          </a:xfrm>
          <a:prstGeom prst="rect">
            <a:avLst/>
          </a:prstGeom>
        </p:spPr>
      </p:pic>
      <p:sp>
        <p:nvSpPr>
          <p:cNvPr id="29" name="Shape 24"/>
          <p:cNvSpPr/>
          <p:nvPr/>
        </p:nvSpPr>
        <p:spPr>
          <a:xfrm>
            <a:off x="9121775" y="4022725"/>
            <a:ext cx="2254250" cy="1257300"/>
          </a:xfrm>
          <a:prstGeom prst="roundRect">
            <a:avLst>
              <a:gd name="adj" fmla="val 7828"/>
            </a:avLst>
          </a:prstGeom>
          <a:solidFill>
            <a:srgbClr val="FBFAF6"/>
          </a:solidFill>
          <a:ln w="6350">
            <a:solidFill>
              <a:srgbClr val="DAD6C8"/>
            </a:solidFill>
            <a:prstDash val="solid"/>
          </a:ln>
        </p:spPr>
        <p:txBody>
          <a:bodyPr/>
          <a:lstStyle/>
          <a:p>
            <a:endParaRPr lang="es-CO"/>
          </a:p>
        </p:txBody>
      </p:sp>
      <p:sp>
        <p:nvSpPr>
          <p:cNvPr id="30" name="Text 25"/>
          <p:cNvSpPr/>
          <p:nvPr/>
        </p:nvSpPr>
        <p:spPr>
          <a:xfrm>
            <a:off x="9277350" y="4178300"/>
            <a:ext cx="200139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6B7B"/>
                </a:solidFill>
                <a:latin typeface="Arial" pitchFamily="34" charset="0"/>
                <a:ea typeface="Arial" pitchFamily="34" charset="-122"/>
                <a:cs typeface="Arial" pitchFamily="34" charset="-120"/>
              </a:rPr>
              <a:t>4 · Resultado</a:t>
            </a:r>
            <a:endParaRPr lang="en-US" sz="1200" dirty="0"/>
          </a:p>
        </p:txBody>
      </p:sp>
      <p:sp>
        <p:nvSpPr>
          <p:cNvPr id="31" name="Text 26"/>
          <p:cNvSpPr/>
          <p:nvPr/>
        </p:nvSpPr>
        <p:spPr>
          <a:xfrm>
            <a:off x="9277350" y="4438650"/>
            <a:ext cx="2001393" cy="4826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6222F"/>
                </a:solidFill>
                <a:latin typeface="Arial" pitchFamily="34" charset="0"/>
                <a:ea typeface="Arial" pitchFamily="34" charset="-122"/>
                <a:cs typeface="Arial" pitchFamily="34" charset="-120"/>
              </a:rPr>
              <a:t>43 archivos mensuales de vuelos con etiqueta válida</a:t>
            </a:r>
            <a:endParaRPr lang="en-US" sz="1400" dirty="0"/>
          </a:p>
        </p:txBody>
      </p:sp>
      <p:sp>
        <p:nvSpPr>
          <p:cNvPr id="32" name="Text 27"/>
          <p:cNvSpPr/>
          <p:nvPr/>
        </p:nvSpPr>
        <p:spPr>
          <a:xfrm>
            <a:off x="812800" y="6242050"/>
            <a:ext cx="8502650" cy="234950"/>
          </a:xfrm>
          <a:prstGeom prst="rect">
            <a:avLst/>
          </a:prstGeom>
          <a:noFill/>
          <a:ln/>
        </p:spPr>
        <p:txBody>
          <a:bodyPr wrap="square" lIns="0" tIns="0" rIns="0" bIns="0" rtlCol="0" anchor="t">
            <a:normAutofit/>
          </a:bodyPr>
          <a:lstStyle/>
          <a:p>
            <a:pPr marL="0" indent="0" algn="l">
              <a:lnSpc>
                <a:spcPts val="1680"/>
              </a:lnSpc>
              <a:buNone/>
            </a:pPr>
            <a:r>
              <a:rPr lang="en-US" sz="900" dirty="0">
                <a:solidFill>
                  <a:srgbClr val="55606B"/>
                </a:solidFill>
                <a:latin typeface="Arial" pitchFamily="34" charset="0"/>
                <a:ea typeface="Arial" pitchFamily="34" charset="-122"/>
                <a:cs typeface="Arial" pitchFamily="34" charset="-120"/>
              </a:rPr>
              <a:t>Fuente: Kaggle y notebook integrado. *0,679 GB, ≈92 % menos que CSV. Cifra registrada en EDA previo, no revalidada en esta copia.</a:t>
            </a:r>
            <a:endParaRPr lang="en-US" sz="1200" dirty="0"/>
          </a:p>
        </p:txBody>
      </p:sp>
      <p:sp>
        <p:nvSpPr>
          <p:cNvPr id="33" name="Text 28"/>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ns2="http://schemas.openxmlformats.org/officeDocument/2006/relationships" xmlns:p="http://schemas.openxmlformats.org/presentationml/2006/main">
  <p:cSld name="Slide 4">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69974"/>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76B7B"/>
                </a:solidFill>
                <a:latin typeface="Arial" pitchFamily="34" charset="0"/>
                <a:ea typeface="Arial" pitchFamily="34" charset="-122"/>
                <a:cs typeface="Arial" pitchFamily="34" charset="-120"/>
              </a:rPr>
              <a:t>3 · LO QUE APRENDIMOS · HALLAZGO 1</a:t>
            </a:r>
            <a:endParaRPr lang="en-US" sz="1400" dirty="0"/>
          </a:p>
        </p:txBody>
      </p:sp>
      <p:sp>
        <p:nvSpPr>
          <p:cNvPr id="3" name="Text 1"/>
          <p:cNvSpPr>
            <a:spLocks noGrp="1"/>
          </p:cNvSpPr>
          <p:nvPr>
            <p:ph type="title"/>
          </p:nvPr>
        </p:nvSpPr>
        <p:spPr>
          <a:xfrm>
            <a:off x="812800" y="1311374"/>
            <a:ext cx="10883392" cy="439241"/>
          </a:xfrm>
          <a:prstGeom prst="rect">
            <a:avLst/>
          </a:prstGeom>
          <a:noFill/>
          <a:ln/>
        </p:spPr>
        <p:txBody>
          <a:bodyPr wrap="square" lIns="0" tIns="0" rIns="0" bIns="0" rtlCol="0" anchor="t">
            <a:normAutofit/>
          </a:bodyPr>
          <a:lstStyle/>
          <a:p>
            <a:pPr marL="0" indent="0" algn="l">
              <a:lnSpc>
                <a:spcPts val="3290"/>
              </a:lnSpc>
              <a:buNone/>
            </a:pPr>
            <a:r>
              <a:rPr lang="en-US" sz="2991" b="1" i="0" dirty="0">
                <a:solidFill>
                  <a:srgbClr val="16222F"/>
                </a:solidFill>
                <a:latin typeface="Arial" pitchFamily="34" charset="0"/>
                <a:ea typeface="Arial" pitchFamily="34" charset="-122"/>
                <a:cs typeface="Arial" pitchFamily="34" charset="-120"/>
              </a:rPr>
              <a:t>Los retrasos se acumulan durante el día</a:t>
            </a:r>
            <a:endParaRPr lang="en-US" sz="2991" dirty="0"/>
          </a:p>
        </p:txBody>
      </p:sp>
      <p:sp>
        <p:nvSpPr>
          <p:cNvPr id="4" name="Shape 2"/>
          <p:cNvSpPr/>
          <p:nvPr/>
        </p:nvSpPr>
        <p:spPr>
          <a:xfrm>
            <a:off x="815975" y="1982391"/>
            <a:ext cx="5454650" cy="3856434"/>
          </a:xfrm>
          <a:prstGeom prst="roundRect">
            <a:avLst>
              <a:gd name="adj" fmla="val 2552"/>
            </a:avLst>
          </a:prstGeom>
          <a:solidFill>
            <a:srgbClr val="FBFAF6"/>
          </a:solidFill>
          <a:ln w="6350">
            <a:solidFill>
              <a:srgbClr val="DAD6C8"/>
            </a:solidFill>
            <a:prstDash val="solid"/>
          </a:ln>
        </p:spPr>
        <p:txBody>
          <a:bodyPr/>
          <a:lstStyle/>
          <a:p>
            <a:endParaRPr lang="es-CO"/>
          </a:p>
        </p:txBody>
      </p:sp>
      <p:pic>
        <p:nvPicPr>
          <p:cNvPr id="5" name="Image 0" descr="Gráfico: porcentaje de vuelos retrasados según la hora programada de salida, de 8,3 % a las 5 h hasta cerca de 24,6 % a las 19 h, y volumen de vuelos por hora"/>
          <p:cNvPicPr>
            <a:picLocks noChangeAspect="1"/>
          </p:cNvPicPr>
          <p:nvPr/>
        </p:nvPicPr>
        <p:blipFill>
          <a:blip ns2:embed="rId3"/>
          <a:srcRect l="-683" r="-683"/>
          <a:stretch/>
        </p:blipFill>
        <p:spPr>
          <a:xfrm>
            <a:off x="965200" y="2137966"/>
            <a:ext cx="5156200" cy="3545284"/>
          </a:xfrm>
          <a:prstGeom prst="rect">
            <a:avLst/>
          </a:prstGeom>
        </p:spPr>
      </p:pic>
      <p:sp>
        <p:nvSpPr>
          <p:cNvPr id="6" name="Shape 3"/>
          <p:cNvSpPr/>
          <p:nvPr/>
        </p:nvSpPr>
        <p:spPr>
          <a:xfrm>
            <a:off x="6581775" y="1982391"/>
            <a:ext cx="2336800" cy="1212850"/>
          </a:xfrm>
          <a:prstGeom prst="roundRect">
            <a:avLst>
              <a:gd name="adj" fmla="val 8115"/>
            </a:avLst>
          </a:prstGeom>
          <a:solidFill>
            <a:srgbClr val="FBFAF6"/>
          </a:solidFill>
          <a:ln w="6350">
            <a:solidFill>
              <a:srgbClr val="DAD6C8"/>
            </a:solidFill>
            <a:prstDash val="solid"/>
          </a:ln>
        </p:spPr>
        <p:txBody>
          <a:bodyPr/>
          <a:lstStyle/>
          <a:p>
            <a:endParaRPr lang="es-CO"/>
          </a:p>
        </p:txBody>
      </p:sp>
      <p:sp>
        <p:nvSpPr>
          <p:cNvPr id="7" name="Text 4"/>
          <p:cNvSpPr/>
          <p:nvPr/>
        </p:nvSpPr>
        <p:spPr>
          <a:xfrm>
            <a:off x="6737350" y="2137966"/>
            <a:ext cx="2086419" cy="4699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76B7B"/>
                </a:solidFill>
                <a:latin typeface="Arial" pitchFamily="34" charset="0"/>
                <a:ea typeface="Arial" pitchFamily="34" charset="-122"/>
                <a:cs typeface="Arial" pitchFamily="34" charset="-120"/>
              </a:rPr>
              <a:t>8,3 %</a:t>
            </a:r>
            <a:endParaRPr lang="en-US" sz="3200" dirty="0"/>
          </a:p>
        </p:txBody>
      </p:sp>
      <p:sp>
        <p:nvSpPr>
          <p:cNvPr id="8" name="Text 5"/>
          <p:cNvSpPr/>
          <p:nvPr/>
        </p:nvSpPr>
        <p:spPr>
          <a:xfrm>
            <a:off x="6737350" y="2620566"/>
            <a:ext cx="2086419"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retrasados entre los vuelos de las 5 h</a:t>
            </a:r>
            <a:endParaRPr lang="en-US" sz="1300" dirty="0"/>
          </a:p>
        </p:txBody>
      </p:sp>
      <p:sp>
        <p:nvSpPr>
          <p:cNvPr id="9" name="Shape 6"/>
          <p:cNvSpPr/>
          <p:nvPr/>
        </p:nvSpPr>
        <p:spPr>
          <a:xfrm>
            <a:off x="9048750" y="1979216"/>
            <a:ext cx="2330450" cy="1219200"/>
          </a:xfrm>
          <a:prstGeom prst="roundRect">
            <a:avLst>
              <a:gd name="adj" fmla="val 8333"/>
            </a:avLst>
          </a:prstGeom>
          <a:solidFill>
            <a:srgbClr val="13243B"/>
          </a:solidFill>
          <a:ln/>
        </p:spPr>
        <p:txBody>
          <a:bodyPr/>
          <a:lstStyle/>
          <a:p>
            <a:endParaRPr lang="es-CO"/>
          </a:p>
        </p:txBody>
      </p:sp>
      <p:sp>
        <p:nvSpPr>
          <p:cNvPr id="10" name="Text 7"/>
          <p:cNvSpPr/>
          <p:nvPr/>
        </p:nvSpPr>
        <p:spPr>
          <a:xfrm>
            <a:off x="9201150" y="2131616"/>
            <a:ext cx="2086419" cy="4699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E9A23B"/>
                </a:solidFill>
                <a:latin typeface="Arial" pitchFamily="34" charset="0"/>
                <a:ea typeface="Arial" pitchFamily="34" charset="-122"/>
                <a:cs typeface="Arial" pitchFamily="34" charset="-120"/>
              </a:rPr>
              <a:t>26,9 %</a:t>
            </a:r>
            <a:endParaRPr lang="en-US" sz="3200" dirty="0"/>
          </a:p>
        </p:txBody>
      </p:sp>
      <p:sp>
        <p:nvSpPr>
          <p:cNvPr id="11" name="Text 8"/>
          <p:cNvSpPr/>
          <p:nvPr/>
        </p:nvSpPr>
        <p:spPr>
          <a:xfrm>
            <a:off x="9201150" y="2614216"/>
            <a:ext cx="2086419"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B8C4D2"/>
                </a:solidFill>
                <a:latin typeface="Arial" pitchFamily="34" charset="0"/>
                <a:ea typeface="Arial" pitchFamily="34" charset="-122"/>
                <a:cs typeface="Arial" pitchFamily="34" charset="-120"/>
              </a:rPr>
              <a:t>retrasados entre los vuelos de las 19 h</a:t>
            </a:r>
            <a:endParaRPr lang="en-US" sz="1300" dirty="0"/>
          </a:p>
        </p:txBody>
      </p:sp>
      <p:sp>
        <p:nvSpPr>
          <p:cNvPr id="12" name="Text 9"/>
          <p:cNvSpPr/>
          <p:nvPr/>
        </p:nvSpPr>
        <p:spPr>
          <a:xfrm>
            <a:off x="6578600" y="3350816"/>
            <a:ext cx="4944618" cy="53340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6222F"/>
                </a:solidFill>
                <a:latin typeface="Arial" pitchFamily="34" charset="0"/>
                <a:ea typeface="Arial" pitchFamily="34" charset="-122"/>
                <a:cs typeface="Arial" pitchFamily="34" charset="-120"/>
              </a:rPr>
              <a:t>Los vuelos programados más tarde tienen más probabilidad de llegar con retraso.</a:t>
            </a:r>
            <a:endParaRPr lang="en-US" sz="1500" dirty="0"/>
          </a:p>
        </p:txBody>
      </p:sp>
      <p:sp>
        <p:nvSpPr>
          <p:cNvPr id="13" name="Text 10"/>
          <p:cNvSpPr/>
          <p:nvPr/>
        </p:nvSpPr>
        <p:spPr>
          <a:xfrm>
            <a:off x="6578600" y="4011216"/>
            <a:ext cx="4944618" cy="46990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5606B"/>
                </a:solidFill>
                <a:latin typeface="Arial" pitchFamily="34" charset="0"/>
                <a:ea typeface="Arial" pitchFamily="34" charset="-122"/>
                <a:cs typeface="Arial" pitchFamily="34" charset="-120"/>
              </a:rPr>
              <a:t>En las 2 y 3 h hay menos vuelos; interpretar sus tasas con cautela.</a:t>
            </a:r>
            <a:endParaRPr lang="en-US" sz="1300" dirty="0"/>
          </a:p>
        </p:txBody>
      </p:sp>
      <p:sp>
        <p:nvSpPr>
          <p:cNvPr id="14" name="Shape 11"/>
          <p:cNvSpPr/>
          <p:nvPr/>
        </p:nvSpPr>
        <p:spPr>
          <a:xfrm>
            <a:off x="6578600" y="4608116"/>
            <a:ext cx="4800600" cy="698500"/>
          </a:xfrm>
          <a:prstGeom prst="roundRect">
            <a:avLst>
              <a:gd name="adj" fmla="val 14545"/>
            </a:avLst>
          </a:prstGeom>
          <a:solidFill>
            <a:srgbClr val="E9A23B"/>
          </a:solidFill>
          <a:ln/>
        </p:spPr>
        <p:txBody>
          <a:bodyPr/>
          <a:lstStyle/>
          <a:p>
            <a:endParaRPr lang="es-CO"/>
          </a:p>
        </p:txBody>
      </p:sp>
      <p:sp>
        <p:nvSpPr>
          <p:cNvPr id="15" name="Text 12"/>
          <p:cNvSpPr/>
          <p:nvPr/>
        </p:nvSpPr>
        <p:spPr>
          <a:xfrm>
            <a:off x="6756400" y="4722416"/>
            <a:ext cx="4578350" cy="495300"/>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3243B"/>
                </a:solidFill>
                <a:latin typeface="Arial" pitchFamily="34" charset="0"/>
                <a:ea typeface="Arial" pitchFamily="34" charset="-122"/>
                <a:cs typeface="Arial" pitchFamily="34" charset="-120"/>
              </a:rPr>
              <a:t>Decisión: la hora programada de salida entra como variable del modelo.</a:t>
            </a:r>
            <a:endParaRPr lang="en-US" sz="1500" dirty="0"/>
          </a:p>
        </p:txBody>
      </p:sp>
      <p:sp>
        <p:nvSpPr>
          <p:cNvPr id="16" name="Text 13"/>
          <p:cNvSpPr/>
          <p:nvPr/>
        </p:nvSpPr>
        <p:spPr>
          <a:xfrm>
            <a:off x="812800" y="6242050"/>
            <a:ext cx="85026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Fuente: EDA recalculado sin 2020. Patrón descriptivo, no prueba causalidad.</a:t>
            </a:r>
            <a:endParaRPr lang="en-US" sz="1200" dirty="0"/>
          </a:p>
        </p:txBody>
      </p:sp>
      <p:sp>
        <p:nvSpPr>
          <p:cNvPr id="17" name="Text 14"/>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ns2="http://schemas.openxmlformats.org/officeDocument/2006/relationships" xmlns:p="http://schemas.openxmlformats.org/presentationml/2006/main">
  <p:cSld name="Slide 5">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68982"/>
          </a:xfrm>
          <a:prstGeom prst="rect">
            <a:avLst/>
          </a:prstGeom>
          <a:noFill/>
          <a:ln/>
        </p:spPr>
        <p:txBody>
          <a:bodyPr wrap="square" lIns="0" tIns="0" rIns="0" bIns="0" rtlCol="0" anchor="t">
            <a:normAutofit/>
          </a:bodyPr>
          <a:lstStyle/>
          <a:p>
            <a:pPr marL="0" indent="0" algn="l">
              <a:lnSpc>
                <a:spcPts val="1948"/>
              </a:lnSpc>
              <a:buNone/>
            </a:pPr>
            <a:r>
              <a:rPr lang="en-US" sz="1391" b="1" kern="0" spc="100" dirty="0">
                <a:solidFill>
                  <a:srgbClr val="176B7B"/>
                </a:solidFill>
                <a:latin typeface="Arial" pitchFamily="34" charset="0"/>
                <a:ea typeface="Arial" pitchFamily="34" charset="-122"/>
                <a:cs typeface="Arial" pitchFamily="34" charset="-120"/>
              </a:rPr>
              <a:t>3 · LO QUE APRENDIMOS · HALLAZGO 2</a:t>
            </a:r>
            <a:endParaRPr lang="en-US" sz="1391" dirty="0"/>
          </a:p>
        </p:txBody>
      </p:sp>
      <p:sp>
        <p:nvSpPr>
          <p:cNvPr id="3" name="Text 1"/>
          <p:cNvSpPr>
            <a:spLocks noGrp="1"/>
          </p:cNvSpPr>
          <p:nvPr>
            <p:ph type="title"/>
          </p:nvPr>
        </p:nvSpPr>
        <p:spPr>
          <a:xfrm>
            <a:off x="812800" y="1259582"/>
            <a:ext cx="10883392" cy="437654"/>
          </a:xfrm>
          <a:prstGeom prst="rect">
            <a:avLst/>
          </a:prstGeom>
          <a:noFill/>
          <a:ln/>
        </p:spPr>
        <p:txBody>
          <a:bodyPr wrap="square" lIns="0" tIns="0" rIns="0" bIns="0" rtlCol="0" anchor="t">
            <a:normAutofit/>
          </a:bodyPr>
          <a:lstStyle/>
          <a:p>
            <a:pPr marL="0" indent="0" algn="l">
              <a:lnSpc>
                <a:spcPts val="3290"/>
              </a:lnSpc>
              <a:buNone/>
            </a:pPr>
            <a:r>
              <a:rPr lang="en-US" sz="2991" b="1" i="0" dirty="0">
                <a:solidFill>
                  <a:srgbClr val="16222F"/>
                </a:solidFill>
                <a:latin typeface="Arial" pitchFamily="34" charset="0"/>
                <a:ea typeface="Arial" pitchFamily="34" charset="-122"/>
                <a:cs typeface="Arial" pitchFamily="34" charset="-120"/>
              </a:rPr>
              <a:t>2020 se excluye de todo análisis</a:t>
            </a:r>
            <a:endParaRPr lang="en-US" sz="2991" dirty="0"/>
          </a:p>
        </p:txBody>
      </p:sp>
      <p:sp>
        <p:nvSpPr>
          <p:cNvPr id="4" name="Shape 2"/>
          <p:cNvSpPr/>
          <p:nvPr/>
        </p:nvSpPr>
        <p:spPr>
          <a:xfrm>
            <a:off x="815975" y="1878211"/>
            <a:ext cx="5708650" cy="2417266"/>
          </a:xfrm>
          <a:prstGeom prst="roundRect">
            <a:avLst>
              <a:gd name="adj" fmla="val 4072"/>
            </a:avLst>
          </a:prstGeom>
          <a:solidFill>
            <a:srgbClr val="FBFAF6"/>
          </a:solidFill>
          <a:ln w="6350">
            <a:solidFill>
              <a:srgbClr val="DAD6C8"/>
            </a:solidFill>
            <a:prstDash val="solid"/>
          </a:ln>
        </p:spPr>
        <p:txBody>
          <a:bodyPr/>
          <a:lstStyle/>
          <a:p>
            <a:endParaRPr lang="es-CO"/>
          </a:p>
        </p:txBody>
      </p:sp>
      <p:sp>
        <p:nvSpPr>
          <p:cNvPr id="6" name="Text 3"/>
          <p:cNvSpPr/>
          <p:nvPr/>
        </p:nvSpPr>
        <p:spPr>
          <a:xfrm>
            <a:off x="946150" y="3972223"/>
            <a:ext cx="5611749" cy="218480"/>
          </a:xfrm>
          <a:prstGeom prst="rect">
            <a:avLst/>
          </a:prstGeom>
          <a:noFill/>
          <a:ln/>
        </p:spPr>
        <p:txBody>
          <a:bodyPr wrap="square" lIns="0" tIns="0" rIns="0" bIns="0" rtlCol="0" anchor="t">
            <a:normAutofit/>
          </a:bodyPr>
          <a:lstStyle/>
          <a:p>
            <a:pPr marL="0" indent="0" algn="l">
              <a:lnSpc>
                <a:spcPts val="1550"/>
              </a:lnSpc>
              <a:buNone/>
            </a:pPr>
            <a:r>
              <a:rPr lang="en-US" sz="1193" dirty="0">
                <a:solidFill>
                  <a:srgbClr val="55606B"/>
                </a:solidFill>
                <a:latin typeface="Arial" pitchFamily="34" charset="0"/>
                <a:ea typeface="Arial" pitchFamily="34" charset="-122"/>
                <a:cs typeface="Arial" pitchFamily="34" charset="-120"/>
              </a:rPr>
              <a:t>Resultados recalculados sin 2020; el periodo pandémico no se analiza.</a:t>
            </a:r>
            <a:endParaRPr lang="en-US" sz="1193" dirty="0"/>
          </a:p>
        </p:txBody>
      </p:sp>
      <p:sp>
        <p:nvSpPr>
          <p:cNvPr id="7" name="Shape 4"/>
          <p:cNvSpPr/>
          <p:nvPr/>
        </p:nvSpPr>
        <p:spPr>
          <a:xfrm>
            <a:off x="6835775" y="1878211"/>
            <a:ext cx="4540250" cy="1187450"/>
          </a:xfrm>
          <a:prstGeom prst="roundRect">
            <a:avLst>
              <a:gd name="adj" fmla="val 8289"/>
            </a:avLst>
          </a:prstGeom>
          <a:solidFill>
            <a:srgbClr val="FBFAF6"/>
          </a:solidFill>
          <a:ln w="6350">
            <a:solidFill>
              <a:srgbClr val="DAD6C8"/>
            </a:solidFill>
            <a:prstDash val="solid"/>
          </a:ln>
        </p:spPr>
        <p:txBody>
          <a:bodyPr/>
          <a:lstStyle/>
          <a:p>
            <a:endParaRPr lang="es-CO"/>
          </a:p>
        </p:txBody>
      </p:sp>
      <p:sp>
        <p:nvSpPr>
          <p:cNvPr id="8" name="Text 5"/>
          <p:cNvSpPr/>
          <p:nvPr/>
        </p:nvSpPr>
        <p:spPr>
          <a:xfrm>
            <a:off x="6991350" y="2033786"/>
            <a:ext cx="4355973"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76B7B"/>
                </a:solidFill>
                <a:latin typeface="Arial" pitchFamily="34" charset="0"/>
                <a:ea typeface="Arial" pitchFamily="34" charset="-122"/>
                <a:cs typeface="Arial" pitchFamily="34" charset="-120"/>
              </a:rPr>
              <a:t>EXCLUIDO</a:t>
            </a:r>
            <a:endParaRPr lang="en-US" sz="3000" dirty="0"/>
          </a:p>
        </p:txBody>
      </p:sp>
      <p:sp>
        <p:nvSpPr>
          <p:cNvPr id="9" name="Text 6"/>
          <p:cNvSpPr/>
          <p:nvPr/>
        </p:nvSpPr>
        <p:spPr>
          <a:xfrm>
            <a:off x="6991350" y="2490986"/>
            <a:ext cx="4355973"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No presentamos métricas ni conclusiones sobre 2020.</a:t>
            </a:r>
            <a:endParaRPr lang="en-US" sz="1300" dirty="0"/>
          </a:p>
        </p:txBody>
      </p:sp>
      <p:sp>
        <p:nvSpPr>
          <p:cNvPr id="10" name="Shape 7"/>
          <p:cNvSpPr/>
          <p:nvPr/>
        </p:nvSpPr>
        <p:spPr>
          <a:xfrm>
            <a:off x="6832600" y="3195836"/>
            <a:ext cx="4546600" cy="971550"/>
          </a:xfrm>
          <a:prstGeom prst="roundRect">
            <a:avLst>
              <a:gd name="adj" fmla="val 10458"/>
            </a:avLst>
          </a:prstGeom>
          <a:solidFill>
            <a:srgbClr val="13243B"/>
          </a:solidFill>
          <a:ln/>
        </p:spPr>
        <p:txBody>
          <a:bodyPr/>
          <a:lstStyle/>
          <a:p>
            <a:endParaRPr lang="es-CO"/>
          </a:p>
        </p:txBody>
      </p:sp>
      <p:sp>
        <p:nvSpPr>
          <p:cNvPr id="11" name="Text 8"/>
          <p:cNvSpPr/>
          <p:nvPr/>
        </p:nvSpPr>
        <p:spPr>
          <a:xfrm>
            <a:off x="6985000" y="3348236"/>
            <a:ext cx="4369054"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E9A23B"/>
                </a:solidFill>
                <a:latin typeface="Arial" pitchFamily="34" charset="0"/>
                <a:ea typeface="Arial" pitchFamily="34" charset="-122"/>
                <a:cs typeface="Arial" pitchFamily="34" charset="-120"/>
              </a:rPr>
              <a:t>21,65 %</a:t>
            </a:r>
            <a:endParaRPr lang="en-US" sz="3000" dirty="0"/>
          </a:p>
        </p:txBody>
      </p:sp>
      <p:sp>
        <p:nvSpPr>
          <p:cNvPr id="12" name="Text 9"/>
          <p:cNvSpPr/>
          <p:nvPr/>
        </p:nvSpPr>
        <p:spPr>
          <a:xfrm>
            <a:off x="6985000" y="3805436"/>
            <a:ext cx="4369054" cy="234950"/>
          </a:xfrm>
          <a:prstGeom prst="rect">
            <a:avLst/>
          </a:prstGeom>
          <a:noFill/>
          <a:ln/>
        </p:spPr>
        <p:txBody>
          <a:bodyPr wrap="square" lIns="0" tIns="0" rIns="0" bIns="0" rtlCol="0" anchor="t">
            <a:normAutofit/>
          </a:bodyPr>
          <a:lstStyle/>
          <a:p>
            <a:r>
              <a:rPr sz="1100">
                <a:solidFill>
                  <a:srgbClr val="FFFFFF"/>
                </a:solidFill>
              </a:rPr>
              <a:t>tasa observada en vuelos etiquetados, ene–jul 2022</a:t>
            </a:r>
          </a:p>
        </p:txBody>
      </p:sp>
      <p:sp>
        <p:nvSpPr>
          <p:cNvPr id="13" name="Text 10"/>
          <p:cNvSpPr/>
          <p:nvPr/>
        </p:nvSpPr>
        <p:spPr>
          <a:xfrm>
            <a:off x="812800" y="4501852"/>
            <a:ext cx="10883392" cy="287734"/>
          </a:xfrm>
          <a:prstGeom prst="rect">
            <a:avLst/>
          </a:prstGeom>
          <a:noFill/>
          <a:ln/>
        </p:spPr>
        <p:txBody>
          <a:bodyPr wrap="square" lIns="0" tIns="0" rIns="0" bIns="0" rtlCol="0" anchor="t">
            <a:normAutofit/>
          </a:bodyPr>
          <a:lstStyle/>
          <a:p>
            <a:pPr marL="0" indent="0" algn="l">
              <a:lnSpc>
                <a:spcPts val="2093"/>
              </a:lnSpc>
              <a:buNone/>
            </a:pPr>
            <a:r>
              <a:rPr lang="en-US" sz="1495" b="1" dirty="0">
                <a:solidFill>
                  <a:srgbClr val="55606B"/>
                </a:solidFill>
                <a:latin typeface="Arial" pitchFamily="34" charset="0"/>
                <a:ea typeface="Arial" pitchFamily="34" charset="-122"/>
                <a:cs typeface="Arial" pitchFamily="34" charset="-120"/>
              </a:rPr>
              <a:t>Ventanas de análisis y modelado sin 2020</a:t>
            </a:r>
            <a:endParaRPr lang="en-US" sz="1495" dirty="0"/>
          </a:p>
        </p:txBody>
      </p:sp>
      <p:sp>
        <p:nvSpPr>
          <p:cNvPr id="14" name="Shape 11"/>
          <p:cNvSpPr/>
          <p:nvPr/>
        </p:nvSpPr>
        <p:spPr>
          <a:xfrm>
            <a:off x="815975" y="4970562"/>
            <a:ext cx="2346325" cy="868164"/>
          </a:xfrm>
          <a:prstGeom prst="roundRect">
            <a:avLst>
              <a:gd name="adj" fmla="val 11337"/>
            </a:avLst>
          </a:prstGeom>
          <a:solidFill>
            <a:srgbClr val="FBFAF6"/>
          </a:solidFill>
          <a:ln w="6350">
            <a:solidFill>
              <a:srgbClr val="DAD6C8"/>
            </a:solidFill>
            <a:prstDash val="solid"/>
          </a:ln>
        </p:spPr>
        <p:txBody>
          <a:bodyPr/>
          <a:lstStyle/>
          <a:p>
            <a:endParaRPr lang="es-CO"/>
          </a:p>
        </p:txBody>
      </p:sp>
      <p:sp>
        <p:nvSpPr>
          <p:cNvPr id="15" name="Text 12"/>
          <p:cNvSpPr/>
          <p:nvPr/>
        </p:nvSpPr>
        <p:spPr>
          <a:xfrm>
            <a:off x="971550" y="5100737"/>
            <a:ext cx="2096230" cy="229890"/>
          </a:xfrm>
          <a:prstGeom prst="rect">
            <a:avLst/>
          </a:prstGeom>
          <a:noFill/>
          <a:ln/>
        </p:spPr>
        <p:txBody>
          <a:bodyPr wrap="square" lIns="0" tIns="0" rIns="0" bIns="0" rtlCol="0" anchor="t">
            <a:normAutofit/>
          </a:bodyPr>
          <a:lstStyle/>
          <a:p>
            <a:pPr marL="0" indent="0" algn="l">
              <a:lnSpc>
                <a:spcPts val="1648"/>
              </a:lnSpc>
              <a:buNone/>
            </a:pPr>
            <a:r>
              <a:rPr lang="en-US" sz="1177" b="1" dirty="0">
                <a:solidFill>
                  <a:srgbClr val="176B7B"/>
                </a:solidFill>
                <a:latin typeface="Arial" pitchFamily="34" charset="0"/>
                <a:ea typeface="Arial" pitchFamily="34" charset="-122"/>
                <a:cs typeface="Arial" pitchFamily="34" charset="-120"/>
              </a:rPr>
              <a:t>Logística · 2021</a:t>
            </a:r>
            <a:endParaRPr lang="en-US" sz="1177" dirty="0"/>
          </a:p>
        </p:txBody>
      </p:sp>
      <p:sp>
        <p:nvSpPr>
          <p:cNvPr id="16" name="Text 13"/>
          <p:cNvSpPr/>
          <p:nvPr/>
        </p:nvSpPr>
        <p:spPr>
          <a:xfrm>
            <a:off x="971550" y="5330627"/>
            <a:ext cx="2096230" cy="403324"/>
          </a:xfrm>
          <a:prstGeom prst="rect">
            <a:avLst/>
          </a:prstGeom>
          <a:noFill/>
          <a:ln/>
        </p:spPr>
        <p:txBody>
          <a:bodyPr wrap="square" lIns="0" tIns="0" rIns="0" bIns="0" rtlCol="0" anchor="t">
            <a:normAutofit/>
          </a:bodyPr>
          <a:lstStyle/>
          <a:p>
            <a:pPr marL="0" indent="0" algn="l">
              <a:lnSpc>
                <a:spcPts val="3042"/>
              </a:lnSpc>
              <a:buNone/>
            </a:pPr>
            <a:r>
              <a:rPr lang="en-US" sz="1500" b="1" dirty="0">
                <a:solidFill>
                  <a:srgbClr val="16222F"/>
                </a:solidFill>
                <a:latin typeface="Arial" pitchFamily="34" charset="0"/>
                <a:ea typeface="Arial" pitchFamily="34" charset="-122"/>
                <a:cs typeface="Arial" pitchFamily="34" charset="-120"/>
              </a:rPr>
              <a:t>400.000 vuelos</a:t>
            </a:r>
            <a:endParaRPr lang="en-US" sz="2173" dirty="0"/>
          </a:p>
        </p:txBody>
      </p:sp>
      <p:pic>
        <p:nvPicPr>
          <p:cNvPr id="17" name="Image 1" descr="arrow-right"/>
          <p:cNvPicPr>
            <a:picLocks noChangeAspect="1"/>
          </p:cNvPicPr>
          <p:nvPr/>
        </p:nvPicPr>
        <p:blipFill>
          <a:blip ns2:embed="rId4"/>
          <a:srcRect/>
          <a:stretch/>
        </p:blipFill>
        <p:spPr>
          <a:xfrm>
            <a:off x="3267075" y="5303044"/>
            <a:ext cx="304800" cy="203200"/>
          </a:xfrm>
          <a:prstGeom prst="rect">
            <a:avLst/>
          </a:prstGeom>
        </p:spPr>
      </p:pic>
      <p:sp>
        <p:nvSpPr>
          <p:cNvPr id="18" name="Shape 14"/>
          <p:cNvSpPr/>
          <p:nvPr/>
        </p:nvSpPr>
        <p:spPr>
          <a:xfrm>
            <a:off x="3676650" y="4970562"/>
            <a:ext cx="2346325" cy="868164"/>
          </a:xfrm>
          <a:prstGeom prst="roundRect">
            <a:avLst>
              <a:gd name="adj" fmla="val 11337"/>
            </a:avLst>
          </a:prstGeom>
          <a:solidFill>
            <a:srgbClr val="FBFAF6"/>
          </a:solidFill>
          <a:ln w="6350">
            <a:solidFill>
              <a:srgbClr val="DAD6C8"/>
            </a:solidFill>
            <a:prstDash val="solid"/>
          </a:ln>
        </p:spPr>
        <p:txBody>
          <a:bodyPr/>
          <a:lstStyle/>
          <a:p>
            <a:endParaRPr lang="es-CO"/>
          </a:p>
        </p:txBody>
      </p:sp>
      <p:sp>
        <p:nvSpPr>
          <p:cNvPr id="19" name="Text 15"/>
          <p:cNvSpPr/>
          <p:nvPr/>
        </p:nvSpPr>
        <p:spPr>
          <a:xfrm>
            <a:off x="3832225" y="5100737"/>
            <a:ext cx="2096230" cy="229890"/>
          </a:xfrm>
          <a:prstGeom prst="rect">
            <a:avLst/>
          </a:prstGeom>
          <a:noFill/>
          <a:ln/>
        </p:spPr>
        <p:txBody>
          <a:bodyPr wrap="square" lIns="0" tIns="0" rIns="0" bIns="0" rtlCol="0" anchor="t">
            <a:normAutofit/>
          </a:bodyPr>
          <a:lstStyle/>
          <a:p>
            <a:pPr marL="0" indent="0" algn="l">
              <a:lnSpc>
                <a:spcPts val="1648"/>
              </a:lnSpc>
              <a:buNone/>
            </a:pPr>
            <a:r>
              <a:rPr lang="en-US" sz="1177" b="1" dirty="0">
                <a:solidFill>
                  <a:srgbClr val="176B7B"/>
                </a:solidFill>
                <a:latin typeface="Arial" pitchFamily="34" charset="0"/>
                <a:ea typeface="Arial" pitchFamily="34" charset="-122"/>
                <a:cs typeface="Arial" pitchFamily="34" charset="-120"/>
              </a:rPr>
              <a:t>Boosting · 2021</a:t>
            </a:r>
            <a:endParaRPr lang="en-US" sz="1177" dirty="0"/>
          </a:p>
        </p:txBody>
      </p:sp>
      <p:sp>
        <p:nvSpPr>
          <p:cNvPr id="20" name="Text 16"/>
          <p:cNvSpPr/>
          <p:nvPr/>
        </p:nvSpPr>
        <p:spPr>
          <a:xfrm>
            <a:off x="3832225" y="5330627"/>
            <a:ext cx="2096230" cy="403324"/>
          </a:xfrm>
          <a:prstGeom prst="rect">
            <a:avLst/>
          </a:prstGeom>
          <a:noFill/>
          <a:ln/>
        </p:spPr>
        <p:txBody>
          <a:bodyPr wrap="square" lIns="0" tIns="0" rIns="0" bIns="0" rtlCol="0" anchor="t">
            <a:normAutofit/>
          </a:bodyPr>
          <a:lstStyle/>
          <a:p>
            <a:pPr marL="0" indent="0" algn="l">
              <a:lnSpc>
                <a:spcPts val="3042"/>
              </a:lnSpc>
              <a:buNone/>
            </a:pPr>
            <a:r>
              <a:rPr lang="en-US" sz="1500" b="1" dirty="0">
                <a:solidFill>
                  <a:srgbClr val="16222F"/>
                </a:solidFill>
                <a:latin typeface="Arial" pitchFamily="34" charset="0"/>
                <a:ea typeface="Arial" pitchFamily="34" charset="-122"/>
                <a:cs typeface="Arial" pitchFamily="34" charset="-120"/>
              </a:rPr>
              <a:t>1 millón de vuelos</a:t>
            </a:r>
            <a:endParaRPr lang="en-US" sz="2173" dirty="0"/>
          </a:p>
        </p:txBody>
      </p:sp>
      <p:pic>
        <p:nvPicPr>
          <p:cNvPr id="21" name="Image 2" descr="arrow-right"/>
          <p:cNvPicPr>
            <a:picLocks noChangeAspect="1"/>
          </p:cNvPicPr>
          <p:nvPr/>
        </p:nvPicPr>
        <p:blipFill>
          <a:blip ns2:embed="rId4"/>
          <a:srcRect/>
          <a:stretch/>
        </p:blipFill>
        <p:spPr>
          <a:xfrm>
            <a:off x="6127750" y="5303044"/>
            <a:ext cx="304800" cy="203200"/>
          </a:xfrm>
          <a:prstGeom prst="rect">
            <a:avLst/>
          </a:prstGeom>
        </p:spPr>
      </p:pic>
      <p:sp>
        <p:nvSpPr>
          <p:cNvPr id="22" name="Shape 17"/>
          <p:cNvSpPr/>
          <p:nvPr/>
        </p:nvSpPr>
        <p:spPr>
          <a:xfrm>
            <a:off x="6537325" y="4970562"/>
            <a:ext cx="2346325" cy="868164"/>
          </a:xfrm>
          <a:prstGeom prst="roundRect">
            <a:avLst>
              <a:gd name="adj" fmla="val 11337"/>
            </a:avLst>
          </a:prstGeom>
          <a:solidFill>
            <a:srgbClr val="FBFAF6"/>
          </a:solidFill>
          <a:ln w="6350">
            <a:solidFill>
              <a:srgbClr val="DAD6C8"/>
            </a:solidFill>
            <a:prstDash val="solid"/>
          </a:ln>
        </p:spPr>
        <p:txBody>
          <a:bodyPr/>
          <a:lstStyle/>
          <a:p>
            <a:endParaRPr lang="es-CO"/>
          </a:p>
        </p:txBody>
      </p:sp>
      <p:sp>
        <p:nvSpPr>
          <p:cNvPr id="23" name="Text 18"/>
          <p:cNvSpPr/>
          <p:nvPr/>
        </p:nvSpPr>
        <p:spPr>
          <a:xfrm>
            <a:off x="6692900" y="5100737"/>
            <a:ext cx="2096230" cy="229890"/>
          </a:xfrm>
          <a:prstGeom prst="rect">
            <a:avLst/>
          </a:prstGeom>
          <a:noFill/>
          <a:ln/>
        </p:spPr>
        <p:txBody>
          <a:bodyPr wrap="square" lIns="0" tIns="0" rIns="0" bIns="0" rtlCol="0" anchor="t">
            <a:normAutofit/>
          </a:bodyPr>
          <a:lstStyle/>
          <a:p>
            <a:pPr marL="0" indent="0" algn="l">
              <a:lnSpc>
                <a:spcPts val="1648"/>
              </a:lnSpc>
              <a:buNone/>
            </a:pPr>
            <a:r>
              <a:rPr lang="en-US" sz="1177" b="1" dirty="0">
                <a:solidFill>
                  <a:srgbClr val="176B7B"/>
                </a:solidFill>
                <a:latin typeface="Arial" pitchFamily="34" charset="0"/>
                <a:ea typeface="Arial" pitchFamily="34" charset="-122"/>
                <a:cs typeface="Arial" pitchFamily="34" charset="-120"/>
              </a:rPr>
              <a:t>Evaluación · 2022</a:t>
            </a:r>
            <a:endParaRPr lang="en-US" sz="1177" dirty="0"/>
          </a:p>
        </p:txBody>
      </p:sp>
      <p:sp>
        <p:nvSpPr>
          <p:cNvPr id="24" name="Text 19"/>
          <p:cNvSpPr/>
          <p:nvPr/>
        </p:nvSpPr>
        <p:spPr>
          <a:xfrm>
            <a:off x="6692900" y="5330627"/>
            <a:ext cx="2096230" cy="403324"/>
          </a:xfrm>
          <a:prstGeom prst="rect">
            <a:avLst/>
          </a:prstGeom>
          <a:noFill/>
          <a:ln/>
        </p:spPr>
        <p:txBody>
          <a:bodyPr wrap="square" lIns="0" tIns="0" rIns="0" bIns="0" rtlCol="0" anchor="t">
            <a:normAutofit/>
          </a:bodyPr>
          <a:lstStyle/>
          <a:p>
            <a:pPr marL="0" indent="0" algn="l">
              <a:lnSpc>
                <a:spcPts val="3042"/>
              </a:lnSpc>
              <a:buNone/>
            </a:pPr>
            <a:r>
              <a:rPr lang="en-US" sz="2173" b="1" dirty="0">
                <a:solidFill>
                  <a:srgbClr val="16222F"/>
                </a:solidFill>
                <a:latin typeface="Arial" pitchFamily="34" charset="0"/>
                <a:ea typeface="Arial" pitchFamily="34" charset="-122"/>
                <a:cs typeface="Arial" pitchFamily="34" charset="-120"/>
              </a:rPr>
              <a:t>Ene–jul; no independiente</a:t>
            </a:r>
            <a:endParaRPr lang="en-US" sz="2173" dirty="0"/>
          </a:p>
        </p:txBody>
      </p:sp>
      <p:sp>
        <p:nvSpPr>
          <p:cNvPr id="25" name="Text 20"/>
          <p:cNvSpPr/>
          <p:nvPr/>
        </p:nvSpPr>
        <p:spPr>
          <a:xfrm>
            <a:off x="8988425" y="4967387"/>
            <a:ext cx="2390775" cy="874514"/>
          </a:xfrm>
          <a:prstGeom prst="roundRect">
            <a:avLst>
              <a:gd name="adj" fmla="val 11618"/>
            </a:avLst>
          </a:prstGeom>
          <a:solidFill>
            <a:srgbClr val="E9A23B"/>
          </a:solidFill>
          <a:ln/>
        </p:spPr>
        <p:txBody>
          <a:bodyPr wrap="square" lIns="148042" tIns="97242" rIns="86987" bIns="71842" rtlCol="0" anchor="t">
            <a:normAutofit/>
          </a:bodyPr>
          <a:lstStyle/>
          <a:p>
            <a:pPr marL="0" indent="0" algn="l">
              <a:lnSpc>
                <a:spcPts val="1750"/>
              </a:lnSpc>
              <a:buNone/>
            </a:pPr>
            <a:r>
              <a:rPr lang="en-US" sz="1100" b="1" dirty="0">
                <a:solidFill>
                  <a:srgbClr val="13243B"/>
                </a:solidFill>
                <a:latin typeface="Arial" pitchFamily="34" charset="0"/>
                <a:ea typeface="Arial" pitchFamily="34" charset="-122"/>
                <a:cs typeface="Arial" pitchFamily="34" charset="-120"/>
              </a:rPr>
              <a:t>2021: entrenamiento ene–sep; validación oct–dic</a:t>
            </a:r>
            <a:endParaRPr lang="en-US" sz="1400" dirty="0"/>
          </a:p>
        </p:txBody>
      </p:sp>
      <p:sp>
        <p:nvSpPr>
          <p:cNvPr id="26" name="Text 21"/>
          <p:cNvSpPr/>
          <p:nvPr/>
        </p:nvSpPr>
        <p:spPr>
          <a:xfrm>
            <a:off x="812800" y="6242050"/>
            <a:ext cx="85026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Cifras y gráficos presentados aquí corresponden a salidas recalculadas sin 2020.</a:t>
            </a:r>
            <a:endParaRPr lang="en-US" sz="1200" dirty="0"/>
          </a:p>
        </p:txBody>
      </p:sp>
      <p:sp>
        <p:nvSpPr>
          <p:cNvPr id="27" name="Text 22"/>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5</a:t>
            </a:r>
            <a:endParaRPr lang="en-US" sz="1200" dirty="0"/>
          </a:p>
        </p:txBody>
      </p:sp>
      <p:sp>
        <p:nvSpPr>
          <p:cNvPr id="28" name="Rounded Rectangle 27"/>
          <p:cNvSpPr/>
          <p:nvPr/>
        </p:nvSpPr>
        <p:spPr>
          <a:xfrm>
            <a:off x="950976" y="2011680"/>
            <a:ext cx="5458968" cy="1883664"/>
          </a:xfrm>
          <a:prstGeom prst="roundRect">
            <a:avLst/>
          </a:prstGeom>
          <a:solidFill>
            <a:srgbClr val="F8FAFC"/>
          </a:solidFill>
          <a:ln>
            <a:solidFill>
              <a:srgbClr val="D2D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216152" y="2423160"/>
            <a:ext cx="932688" cy="859536"/>
          </a:xfrm>
          <a:prstGeom prst="roundRect">
            <a:avLst/>
          </a:prstGeom>
          <a:solidFill>
            <a:srgbClr val="FFFFFF"/>
          </a:solidFill>
          <a:ln>
            <a:solidFill>
              <a:srgbClr val="23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900">
                <a:solidFill>
                  <a:srgbClr val="1A2530"/>
                </a:solidFill>
              </a:rPr>
              <a:t>2018</a:t>
            </a:r>
          </a:p>
          <a:p>
            <a:pPr algn="ctr"/>
            <a:r>
              <a:rPr b="1" sz="900">
                <a:solidFill>
                  <a:srgbClr val="236952"/>
                </a:solidFill>
              </a:rPr>
              <a:t>INCLUIDO</a:t>
            </a:r>
          </a:p>
        </p:txBody>
      </p:sp>
      <p:sp>
        <p:nvSpPr>
          <p:cNvPr id="30" name="Rounded Rectangle 29"/>
          <p:cNvSpPr/>
          <p:nvPr/>
        </p:nvSpPr>
        <p:spPr>
          <a:xfrm>
            <a:off x="2286000" y="2423160"/>
            <a:ext cx="932688" cy="859536"/>
          </a:xfrm>
          <a:prstGeom prst="roundRect">
            <a:avLst/>
          </a:prstGeom>
          <a:solidFill>
            <a:srgbClr val="FFFFFF"/>
          </a:solidFill>
          <a:ln>
            <a:solidFill>
              <a:srgbClr val="23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900">
                <a:solidFill>
                  <a:srgbClr val="1A2530"/>
                </a:solidFill>
              </a:rPr>
              <a:t>2019</a:t>
            </a:r>
          </a:p>
          <a:p>
            <a:pPr algn="ctr"/>
            <a:r>
              <a:rPr b="1" sz="900">
                <a:solidFill>
                  <a:srgbClr val="236952"/>
                </a:solidFill>
              </a:rPr>
              <a:t>INCLUIDO</a:t>
            </a:r>
          </a:p>
        </p:txBody>
      </p:sp>
      <p:sp>
        <p:nvSpPr>
          <p:cNvPr id="31" name="Rounded Rectangle 30"/>
          <p:cNvSpPr/>
          <p:nvPr/>
        </p:nvSpPr>
        <p:spPr>
          <a:xfrm>
            <a:off x="3355848" y="2423160"/>
            <a:ext cx="932688" cy="859536"/>
          </a:xfrm>
          <a:prstGeom prst="roundRect">
            <a:avLst/>
          </a:prstGeom>
          <a:solidFill>
            <a:srgbClr val="FFFFFF"/>
          </a:solidFill>
          <a:ln>
            <a:solidFill>
              <a:srgbClr val="B13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900">
                <a:solidFill>
                  <a:srgbClr val="1A2530"/>
                </a:solidFill>
              </a:rPr>
              <a:t>2020</a:t>
            </a:r>
          </a:p>
          <a:p>
            <a:pPr algn="ctr"/>
            <a:r>
              <a:rPr b="1" sz="900">
                <a:solidFill>
                  <a:srgbClr val="B13D3D"/>
                </a:solidFill>
              </a:rPr>
              <a:t>EXCLUIDO</a:t>
            </a:r>
          </a:p>
        </p:txBody>
      </p:sp>
      <p:sp>
        <p:nvSpPr>
          <p:cNvPr id="32" name="Rounded Rectangle 31"/>
          <p:cNvSpPr/>
          <p:nvPr/>
        </p:nvSpPr>
        <p:spPr>
          <a:xfrm>
            <a:off x="4425696" y="2423160"/>
            <a:ext cx="932688" cy="859536"/>
          </a:xfrm>
          <a:prstGeom prst="roundRect">
            <a:avLst/>
          </a:prstGeom>
          <a:solidFill>
            <a:srgbClr val="FFFFFF"/>
          </a:solidFill>
          <a:ln>
            <a:solidFill>
              <a:srgbClr val="23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900">
                <a:solidFill>
                  <a:srgbClr val="1A2530"/>
                </a:solidFill>
              </a:rPr>
              <a:t>2021</a:t>
            </a:r>
          </a:p>
          <a:p>
            <a:pPr algn="ctr"/>
            <a:r>
              <a:rPr b="1" sz="900">
                <a:solidFill>
                  <a:srgbClr val="236952"/>
                </a:solidFill>
              </a:rPr>
              <a:t>INCLUIDO</a:t>
            </a:r>
          </a:p>
        </p:txBody>
      </p:sp>
      <p:sp>
        <p:nvSpPr>
          <p:cNvPr id="33" name="Rounded Rectangle 32"/>
          <p:cNvSpPr/>
          <p:nvPr/>
        </p:nvSpPr>
        <p:spPr>
          <a:xfrm>
            <a:off x="5495544" y="2423160"/>
            <a:ext cx="932688" cy="859536"/>
          </a:xfrm>
          <a:prstGeom prst="roundRect">
            <a:avLst/>
          </a:prstGeom>
          <a:solidFill>
            <a:srgbClr val="FFFFFF"/>
          </a:solidFill>
          <a:ln>
            <a:solidFill>
              <a:srgbClr val="23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900">
                <a:solidFill>
                  <a:srgbClr val="1A2530"/>
                </a:solidFill>
              </a:rPr>
              <a:t>2022</a:t>
            </a:r>
          </a:p>
          <a:p>
            <a:pPr algn="ctr"/>
            <a:r>
              <a:rPr b="1" sz="900">
                <a:solidFill>
                  <a:srgbClr val="236952"/>
                </a:solidFill>
              </a:rPr>
              <a:t>ENE–JUL</a:t>
            </a:r>
          </a:p>
        </p:txBody>
      </p:sp>
      <p:sp>
        <p:nvSpPr>
          <p:cNvPr id="34" name="TextBox 33"/>
          <p:cNvSpPr txBox="1"/>
          <p:nvPr/>
        </p:nvSpPr>
        <p:spPr>
          <a:xfrm>
            <a:off x="1179576" y="3410712"/>
            <a:ext cx="5001768" cy="320040"/>
          </a:xfrm>
          <a:prstGeom prst="rect">
            <a:avLst/>
          </a:prstGeom>
          <a:noFill/>
        </p:spPr>
        <p:txBody>
          <a:bodyPr wrap="none">
            <a:spAutoFit/>
          </a:bodyPr>
          <a:lstStyle/>
          <a:p>
            <a:pPr algn="ctr"/>
            <a:r>
              <a:rPr sz="1100">
                <a:solidFill>
                  <a:srgbClr val="3D4957"/>
                </a:solidFill>
              </a:rPr>
              <a:t>Periodo analítico: 2018, 2019, 2021 y enero–julio de 2022</a:t>
            </a:r>
          </a:p>
        </p:txBody>
      </p:sp>
    </p:spTree>
  </p:cSld>
  <p:clrMapOvr>
    <a:masterClrMapping/>
  </p:clrMapOvr>
</p:sld>
</file>

<file path=ppt/slides/slide6.xml><?xml version="1.0" encoding="utf-8"?>
<p:sld xmlns:a="http://schemas.openxmlformats.org/drawingml/2006/main" xmlns:p="http://schemas.openxmlformats.org/presentationml/2006/main">
  <p:cSld name="Slide 6">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76B7B"/>
                </a:solidFill>
                <a:latin typeface="Arial" pitchFamily="34" charset="0"/>
                <a:ea typeface="Arial" pitchFamily="34" charset="-122"/>
                <a:cs typeface="Arial" pitchFamily="34" charset="-120"/>
              </a:rPr>
              <a:t>3 · LO QUE APRENDIMOS · HALLAZGO 3</a:t>
            </a:r>
            <a:endParaRPr lang="en-US" sz="1400" dirty="0"/>
          </a:p>
        </p:txBody>
      </p:sp>
      <p:sp>
        <p:nvSpPr>
          <p:cNvPr id="3" name="Text 1"/>
          <p:cNvSpPr>
            <a:spLocks noGrp="1"/>
          </p:cNvSpPr>
          <p:nvPr>
            <p:ph type="title"/>
          </p:nvPr>
        </p:nvSpPr>
        <p:spPr>
          <a:xfrm>
            <a:off x="812800" y="1314450"/>
            <a:ext cx="10883392" cy="41275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6222F"/>
                </a:solidFill>
                <a:latin typeface="Arial" pitchFamily="34" charset="0"/>
                <a:ea typeface="Arial" pitchFamily="34" charset="-122"/>
                <a:cs typeface="Arial" pitchFamily="34" charset="-120"/>
              </a:rPr>
              <a:t>Lo que no se sabe antes de salir no entra al modelo</a:t>
            </a:r>
            <a:endParaRPr lang="en-US" sz="2800" dirty="0"/>
          </a:p>
        </p:txBody>
      </p:sp>
      <p:sp>
        <p:nvSpPr>
          <p:cNvPr id="4" name="Shape 2"/>
          <p:cNvSpPr/>
          <p:nvPr/>
        </p:nvSpPr>
        <p:spPr>
          <a:xfrm>
            <a:off x="812800" y="1955800"/>
            <a:ext cx="3302000" cy="2501900"/>
          </a:xfrm>
          <a:prstGeom prst="roundRect">
            <a:avLst>
              <a:gd name="adj" fmla="val 4061"/>
            </a:avLst>
          </a:prstGeom>
          <a:solidFill>
            <a:srgbClr val="13243B"/>
          </a:solidFill>
          <a:ln/>
        </p:spPr>
        <p:txBody>
          <a:bodyPr/>
          <a:lstStyle/>
          <a:p>
            <a:endParaRPr lang="es-CO"/>
          </a:p>
        </p:txBody>
      </p:sp>
      <p:sp>
        <p:nvSpPr>
          <p:cNvPr id="5" name="Text 3"/>
          <p:cNvSpPr/>
          <p:nvPr/>
        </p:nvSpPr>
        <p:spPr>
          <a:xfrm>
            <a:off x="1041400" y="2266950"/>
            <a:ext cx="2930144"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E9A23B"/>
                </a:solidFill>
                <a:latin typeface="Arial" pitchFamily="34" charset="0"/>
                <a:ea typeface="Arial" pitchFamily="34" charset="-122"/>
                <a:cs typeface="Arial" pitchFamily="34" charset="-120"/>
              </a:rPr>
              <a:t>0,9669</a:t>
            </a:r>
            <a:endParaRPr lang="en-US" sz="6000" dirty="0"/>
          </a:p>
        </p:txBody>
      </p:sp>
      <p:sp>
        <p:nvSpPr>
          <p:cNvPr id="6" name="Text 4"/>
          <p:cNvSpPr/>
          <p:nvPr/>
        </p:nvSpPr>
        <p:spPr>
          <a:xfrm>
            <a:off x="1041400" y="3130550"/>
            <a:ext cx="2930144"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5F3EC"/>
                </a:solidFill>
                <a:latin typeface="Arial" pitchFamily="34" charset="0"/>
                <a:ea typeface="Arial" pitchFamily="34" charset="-122"/>
                <a:cs typeface="Arial" pitchFamily="34" charset="-120"/>
              </a:rPr>
              <a:t>correlación entre el retraso de salida y el de llegada (Pearson)</a:t>
            </a:r>
            <a:endParaRPr lang="en-US" sz="1500" dirty="0"/>
          </a:p>
        </p:txBody>
      </p:sp>
      <p:sp>
        <p:nvSpPr>
          <p:cNvPr id="7" name="Text 5"/>
          <p:cNvSpPr/>
          <p:nvPr/>
        </p:nvSpPr>
        <p:spPr>
          <a:xfrm>
            <a:off x="1041400" y="3727450"/>
            <a:ext cx="2930144"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B8C4D2"/>
                </a:solidFill>
                <a:latin typeface="Arial" pitchFamily="34" charset="0"/>
                <a:ea typeface="Arial" pitchFamily="34" charset="-122"/>
                <a:cs typeface="Arial" pitchFamily="34" charset="-120"/>
              </a:rPr>
              <a:t>0,6584 en Spearman; misma muestra completa de 100.000 vuelos</a:t>
            </a:r>
            <a:endParaRPr lang="en-US" sz="1300" dirty="0"/>
          </a:p>
        </p:txBody>
      </p:sp>
      <p:sp>
        <p:nvSpPr>
          <p:cNvPr id="8" name="Shape 6"/>
          <p:cNvSpPr/>
          <p:nvPr/>
        </p:nvSpPr>
        <p:spPr>
          <a:xfrm>
            <a:off x="4321175" y="1958975"/>
            <a:ext cx="3422650" cy="2495550"/>
          </a:xfrm>
          <a:prstGeom prst="roundRect">
            <a:avLst>
              <a:gd name="adj" fmla="val 3944"/>
            </a:avLst>
          </a:prstGeom>
          <a:solidFill>
            <a:srgbClr val="FBFAF6"/>
          </a:solidFill>
          <a:ln w="6350">
            <a:solidFill>
              <a:srgbClr val="DAD6C8"/>
            </a:solidFill>
            <a:prstDash val="solid"/>
          </a:ln>
        </p:spPr>
        <p:txBody>
          <a:bodyPr/>
          <a:lstStyle/>
          <a:p>
            <a:endParaRPr lang="es-CO"/>
          </a:p>
        </p:txBody>
      </p:sp>
      <p:sp>
        <p:nvSpPr>
          <p:cNvPr id="9" name="Text 7"/>
          <p:cNvSpPr/>
          <p:nvPr/>
        </p:nvSpPr>
        <p:spPr>
          <a:xfrm>
            <a:off x="4502150" y="2139950"/>
            <a:ext cx="3152521" cy="53340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76B7B"/>
                </a:solidFill>
                <a:latin typeface="Arial" pitchFamily="34" charset="0"/>
                <a:ea typeface="Arial" pitchFamily="34" charset="-122"/>
                <a:cs typeface="Arial" pitchFamily="34" charset="-120"/>
              </a:rPr>
              <a:t>Entra: se conoce antes de salir</a:t>
            </a:r>
            <a:endParaRPr lang="en-US" sz="1700" dirty="0"/>
          </a:p>
        </p:txBody>
      </p:sp>
      <p:sp>
        <p:nvSpPr>
          <p:cNvPr id="10" name="Text 8"/>
          <p:cNvSpPr/>
          <p:nvPr/>
        </p:nvSpPr>
        <p:spPr>
          <a:xfrm>
            <a:off x="4599432" y="2749550"/>
            <a:ext cx="3047619" cy="1549400"/>
          </a:xfrm>
          <a:prstGeom prst="rect">
            <a:avLst/>
          </a:prstGeom>
          <a:noFill/>
          <a:ln/>
        </p:spPr>
        <p:txBody>
          <a:bodyPr wrap="square" lIns="0" tIns="0" rIns="0" bIns="0" rtlCol="0" anchor="t">
            <a:normAutofit/>
          </a:bodyPr>
          <a:lstStyle/>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Aerolínea operadora</a:t>
            </a:r>
            <a:endParaRPr lang="en-US" sz="1400" dirty="0"/>
          </a:p>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Aeropuerto de origen y de destino</a:t>
            </a:r>
            <a:endParaRPr lang="en-US" sz="1400" dirty="0"/>
          </a:p>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Día de la semana</a:t>
            </a:r>
            <a:endParaRPr lang="en-US" sz="1400" dirty="0"/>
          </a:p>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Hora programada de salida</a:t>
            </a:r>
            <a:endParaRPr lang="en-US" sz="1400" dirty="0"/>
          </a:p>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Distancia</a:t>
            </a:r>
            <a:endParaRPr lang="en-US" sz="1400" dirty="0"/>
          </a:p>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Duración programada</a:t>
            </a:r>
            <a:endParaRPr lang="en-US" sz="1400" dirty="0"/>
          </a:p>
        </p:txBody>
      </p:sp>
      <p:sp>
        <p:nvSpPr>
          <p:cNvPr id="11" name="Shape 9"/>
          <p:cNvSpPr/>
          <p:nvPr/>
        </p:nvSpPr>
        <p:spPr>
          <a:xfrm>
            <a:off x="7953375" y="1958975"/>
            <a:ext cx="3422650" cy="2495550"/>
          </a:xfrm>
          <a:prstGeom prst="roundRect">
            <a:avLst>
              <a:gd name="adj" fmla="val 3944"/>
            </a:avLst>
          </a:prstGeom>
          <a:solidFill>
            <a:srgbClr val="FBFAF6"/>
          </a:solidFill>
          <a:ln w="6350">
            <a:solidFill>
              <a:srgbClr val="DAD6C8"/>
            </a:solidFill>
            <a:prstDash val="solid"/>
          </a:ln>
        </p:spPr>
        <p:txBody>
          <a:bodyPr/>
          <a:lstStyle/>
          <a:p>
            <a:endParaRPr lang="es-CO"/>
          </a:p>
        </p:txBody>
      </p:sp>
      <p:sp>
        <p:nvSpPr>
          <p:cNvPr id="12" name="Text 10"/>
          <p:cNvSpPr/>
          <p:nvPr/>
        </p:nvSpPr>
        <p:spPr>
          <a:xfrm>
            <a:off x="8134350" y="2139950"/>
            <a:ext cx="3152521" cy="27940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8A5A0A"/>
                </a:solidFill>
                <a:latin typeface="Arial" pitchFamily="34" charset="0"/>
                <a:ea typeface="Arial" pitchFamily="34" charset="-122"/>
                <a:cs typeface="Arial" pitchFamily="34" charset="-120"/>
              </a:rPr>
              <a:t>No entra: fuga de datos</a:t>
            </a:r>
            <a:endParaRPr lang="en-US" sz="1700" dirty="0"/>
          </a:p>
        </p:txBody>
      </p:sp>
      <p:sp>
        <p:nvSpPr>
          <p:cNvPr id="13" name="Text 11"/>
          <p:cNvSpPr/>
          <p:nvPr/>
        </p:nvSpPr>
        <p:spPr>
          <a:xfrm>
            <a:off x="8231632" y="2495550"/>
            <a:ext cx="3047619" cy="1041400"/>
          </a:xfrm>
          <a:prstGeom prst="rect">
            <a:avLst/>
          </a:prstGeom>
          <a:noFill/>
          <a:ln/>
        </p:spPr>
        <p:txBody>
          <a:bodyPr wrap="square" lIns="0" tIns="0" rIns="0" bIns="0" rtlCol="0" anchor="t">
            <a:normAutofit/>
          </a:bodyPr>
          <a:lstStyle/>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Retraso de salida</a:t>
            </a:r>
            <a:endParaRPr lang="en-US" sz="1400" dirty="0"/>
          </a:p>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Tiempo de rodaje (salida y llegada)</a:t>
            </a:r>
            <a:endParaRPr lang="en-US" sz="1400" dirty="0"/>
          </a:p>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Horas reales de salida y llegada</a:t>
            </a:r>
            <a:endParaRPr lang="en-US" sz="1400" dirty="0"/>
          </a:p>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Duración real del vuelo</a:t>
            </a:r>
            <a:endParaRPr lang="en-US" sz="1400" dirty="0"/>
          </a:p>
        </p:txBody>
      </p:sp>
      <p:sp>
        <p:nvSpPr>
          <p:cNvPr id="14" name="Shape 12"/>
          <p:cNvSpPr/>
          <p:nvPr/>
        </p:nvSpPr>
        <p:spPr>
          <a:xfrm>
            <a:off x="812800" y="4711700"/>
            <a:ext cx="10566400" cy="552450"/>
          </a:xfrm>
          <a:prstGeom prst="roundRect">
            <a:avLst>
              <a:gd name="adj" fmla="val 18391"/>
            </a:avLst>
          </a:prstGeom>
          <a:solidFill>
            <a:srgbClr val="E9A23B"/>
          </a:solidFill>
          <a:ln/>
        </p:spPr>
        <p:txBody>
          <a:bodyPr/>
          <a:lstStyle/>
          <a:p>
            <a:endParaRPr lang="es-CO"/>
          </a:p>
        </p:txBody>
      </p:sp>
      <p:sp>
        <p:nvSpPr>
          <p:cNvPr id="15" name="Text 13"/>
          <p:cNvSpPr/>
          <p:nvPr/>
        </p:nvSpPr>
        <p:spPr>
          <a:xfrm>
            <a:off x="1016000" y="4838700"/>
            <a:ext cx="10464800" cy="32385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3243B"/>
                </a:solidFill>
                <a:latin typeface="Arial" pitchFamily="34" charset="0"/>
                <a:ea typeface="Arial" pitchFamily="34" charset="-122"/>
                <a:cs typeface="Arial" pitchFamily="34" charset="-120"/>
              </a:rPr>
              <a:t>Preferimos un modelo modesto y honesto a uno espectacular e inútil.</a:t>
            </a:r>
            <a:endParaRPr lang="en-US" sz="1700" dirty="0"/>
          </a:p>
        </p:txBody>
      </p:sp>
      <p:sp>
        <p:nvSpPr>
          <p:cNvPr id="16" name="Text 14"/>
          <p:cNvSpPr/>
          <p:nvPr/>
        </p:nvSpPr>
        <p:spPr>
          <a:xfrm>
            <a:off x="812800" y="6242050"/>
            <a:ext cx="85026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Fuente: EDA recalculado; Pearson en valores originales y Spearman en rangos. Asociación, no causalidad.</a:t>
            </a:r>
            <a:endParaRPr lang="en-US" sz="1200" dirty="0"/>
          </a:p>
        </p:txBody>
      </p:sp>
      <p:sp>
        <p:nvSpPr>
          <p:cNvPr id="17" name="Text 15"/>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ns2="http://schemas.openxmlformats.org/officeDocument/2006/relationships" xmlns:p="http://schemas.openxmlformats.org/presentationml/2006/main">
  <p:cSld name="Slide 7">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76B7B"/>
                </a:solidFill>
                <a:latin typeface="Arial" pitchFamily="34" charset="0"/>
                <a:ea typeface="Arial" pitchFamily="34" charset="-122"/>
                <a:cs typeface="Arial" pitchFamily="34" charset="-120"/>
              </a:rPr>
              <a:t>4 · LA SOLUCIÓN</a:t>
            </a:r>
            <a:endParaRPr lang="en-US" sz="1400" dirty="0"/>
          </a:p>
        </p:txBody>
      </p:sp>
      <p:sp>
        <p:nvSpPr>
          <p:cNvPr id="3" name="Text 1"/>
          <p:cNvSpPr>
            <a:spLocks noGrp="1"/>
          </p:cNvSpPr>
          <p:nvPr>
            <p:ph type="title"/>
          </p:nvPr>
        </p:nvSpPr>
        <p:spPr>
          <a:xfrm>
            <a:off x="812800" y="126365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22F"/>
                </a:solidFill>
                <a:latin typeface="Arial" pitchFamily="34" charset="0"/>
                <a:ea typeface="Arial" pitchFamily="34" charset="-122"/>
                <a:cs typeface="Arial" pitchFamily="34" charset="-120"/>
              </a:rPr>
              <a:t>Cómo construimos la solución</a:t>
            </a:r>
            <a:endParaRPr lang="en-US" sz="3000" dirty="0"/>
          </a:p>
        </p:txBody>
      </p:sp>
      <p:sp>
        <p:nvSpPr>
          <p:cNvPr id="4" name="Text 2"/>
          <p:cNvSpPr/>
          <p:nvPr/>
        </p:nvSpPr>
        <p:spPr>
          <a:xfrm>
            <a:off x="812800" y="18859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55606B"/>
                </a:solidFill>
                <a:latin typeface="Arial" pitchFamily="34" charset="0"/>
                <a:ea typeface="Arial" pitchFamily="34" charset="-122"/>
                <a:cs typeface="Arial" pitchFamily="34" charset="-120"/>
              </a:rPr>
              <a:t>Una base limpia: ningún resultado desconocido se convierte en cero</a:t>
            </a:r>
            <a:endParaRPr lang="en-US" sz="1500" dirty="0"/>
          </a:p>
        </p:txBody>
      </p:sp>
      <p:sp>
        <p:nvSpPr>
          <p:cNvPr id="5" name="Shape 3"/>
          <p:cNvSpPr/>
          <p:nvPr/>
        </p:nvSpPr>
        <p:spPr>
          <a:xfrm>
            <a:off x="815975" y="2359025"/>
            <a:ext cx="2157115" cy="1022350"/>
          </a:xfrm>
          <a:prstGeom prst="roundRect">
            <a:avLst>
              <a:gd name="adj" fmla="val 9627"/>
            </a:avLst>
          </a:prstGeom>
          <a:solidFill>
            <a:srgbClr val="FBFAF6"/>
          </a:solidFill>
          <a:ln w="6350">
            <a:solidFill>
              <a:srgbClr val="DAD6C8"/>
            </a:solidFill>
            <a:prstDash val="solid"/>
          </a:ln>
        </p:spPr>
        <p:txBody>
          <a:bodyPr/>
          <a:lstStyle/>
          <a:p>
            <a:endParaRPr lang="es-CO"/>
          </a:p>
        </p:txBody>
      </p:sp>
      <p:sp>
        <p:nvSpPr>
          <p:cNvPr id="6" name="Text 4"/>
          <p:cNvSpPr/>
          <p:nvPr/>
        </p:nvSpPr>
        <p:spPr>
          <a:xfrm>
            <a:off x="971550" y="2501900"/>
            <a:ext cx="1901344" cy="33020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176B7B"/>
                </a:solidFill>
                <a:latin typeface="Arial" pitchFamily="34" charset="0"/>
                <a:ea typeface="Arial" pitchFamily="34" charset="-122"/>
                <a:cs typeface="Arial" pitchFamily="34" charset="-120"/>
              </a:rPr>
              <a:t>24.171.385</a:t>
            </a:r>
            <a:endParaRPr lang="en-US" sz="2200" dirty="0"/>
          </a:p>
        </p:txBody>
      </p:sp>
      <p:sp>
        <p:nvSpPr>
          <p:cNvPr id="7" name="Text 5"/>
          <p:cNvSpPr/>
          <p:nvPr/>
        </p:nvSpPr>
        <p:spPr>
          <a:xfrm>
            <a:off x="971550" y="2844800"/>
            <a:ext cx="1901344" cy="234950"/>
          </a:xfrm>
          <a:prstGeom prst="rect">
            <a:avLst/>
          </a:prstGeom>
          <a:noFill/>
          <a:ln/>
        </p:spPr>
        <p:txBody>
          <a:bodyPr wrap="square" lIns="0" tIns="0" rIns="0" bIns="0" rtlCol="0" anchor="t">
            <a:normAutofit/>
          </a:bodyPr>
          <a:lstStyle/>
          <a:p>
            <a:pPr marL="0" indent="0" algn="l">
              <a:lnSpc>
                <a:spcPts val="1690"/>
              </a:lnSpc>
              <a:buNone/>
            </a:pPr>
            <a:r>
              <a:rPr lang="en-US" sz="1000" dirty="0">
                <a:solidFill>
                  <a:srgbClr val="55606B"/>
                </a:solidFill>
                <a:latin typeface="Arial" pitchFamily="34" charset="0"/>
                <a:ea typeface="Arial" pitchFamily="34" charset="-122"/>
                <a:cs typeface="Arial" pitchFamily="34" charset="-120"/>
              </a:rPr>
              <a:t>filas del Parquet con 61 columnas</a:t>
            </a:r>
            <a:endParaRPr lang="en-US" sz="1300" dirty="0"/>
          </a:p>
        </p:txBody>
      </p:sp>
      <p:pic>
        <p:nvPicPr>
          <p:cNvPr id="8" name="Image 0" descr="arrow-right"/>
          <p:cNvPicPr>
            <a:picLocks noChangeAspect="1"/>
          </p:cNvPicPr>
          <p:nvPr/>
        </p:nvPicPr>
        <p:blipFill>
          <a:blip ns2:embed="rId3"/>
          <a:srcRect/>
          <a:stretch/>
        </p:blipFill>
        <p:spPr>
          <a:xfrm>
            <a:off x="3077865" y="2768600"/>
            <a:ext cx="254000" cy="203200"/>
          </a:xfrm>
          <a:prstGeom prst="rect">
            <a:avLst/>
          </a:prstGeom>
        </p:spPr>
      </p:pic>
      <p:sp>
        <p:nvSpPr>
          <p:cNvPr id="9" name="Shape 6"/>
          <p:cNvSpPr/>
          <p:nvPr/>
        </p:nvSpPr>
        <p:spPr>
          <a:xfrm>
            <a:off x="3436640" y="2359025"/>
            <a:ext cx="2526308" cy="1022350"/>
          </a:xfrm>
          <a:prstGeom prst="roundRect">
            <a:avLst>
              <a:gd name="adj" fmla="val 9627"/>
            </a:avLst>
          </a:prstGeom>
          <a:solidFill>
            <a:srgbClr val="FBFAF6"/>
          </a:solidFill>
          <a:ln w="6350">
            <a:solidFill>
              <a:srgbClr val="DAD6C8"/>
            </a:solidFill>
            <a:prstDash val="solid"/>
          </a:ln>
        </p:spPr>
        <p:txBody>
          <a:bodyPr/>
          <a:lstStyle/>
          <a:p>
            <a:endParaRPr lang="es-CO"/>
          </a:p>
        </p:txBody>
      </p:sp>
      <p:sp>
        <p:nvSpPr>
          <p:cNvPr id="10" name="Text 7"/>
          <p:cNvSpPr/>
          <p:nvPr/>
        </p:nvSpPr>
        <p:spPr>
          <a:xfrm>
            <a:off x="3592215" y="2501900"/>
            <a:ext cx="2281613" cy="33020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8A5A0A"/>
                </a:solidFill>
                <a:latin typeface="Arial" pitchFamily="34" charset="0"/>
                <a:ea typeface="Arial" pitchFamily="34" charset="-122"/>
                <a:cs typeface="Arial" pitchFamily="34" charset="-120"/>
              </a:rPr>
              <a:t>2020 excluido</a:t>
            </a:r>
            <a:endParaRPr lang="en-US" sz="2200" dirty="0"/>
          </a:p>
        </p:txBody>
      </p:sp>
      <p:sp>
        <p:nvSpPr>
          <p:cNvPr id="11" name="Text 8"/>
          <p:cNvSpPr/>
          <p:nvPr/>
        </p:nvSpPr>
        <p:spPr>
          <a:xfrm>
            <a:off x="3592215" y="2844800"/>
            <a:ext cx="2281613" cy="41910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5606B"/>
                </a:solidFill>
                <a:latin typeface="Arial" pitchFamily="34" charset="0"/>
                <a:ea typeface="Arial" pitchFamily="34" charset="-122"/>
                <a:cs typeface="Arial" pitchFamily="34" charset="-120"/>
              </a:rPr>
              <a:t>No se presentan resultados de 2020</a:t>
            </a:r>
            <a:endParaRPr lang="en-US" sz="1200" dirty="0"/>
          </a:p>
        </p:txBody>
      </p:sp>
      <p:pic>
        <p:nvPicPr>
          <p:cNvPr id="12" name="Image 1" descr="arrow-right"/>
          <p:cNvPicPr>
            <a:picLocks noChangeAspect="1"/>
          </p:cNvPicPr>
          <p:nvPr/>
        </p:nvPicPr>
        <p:blipFill>
          <a:blip ns2:embed="rId3"/>
          <a:srcRect/>
          <a:stretch/>
        </p:blipFill>
        <p:spPr>
          <a:xfrm>
            <a:off x="6067723" y="2768600"/>
            <a:ext cx="254000" cy="203200"/>
          </a:xfrm>
          <a:prstGeom prst="rect">
            <a:avLst/>
          </a:prstGeom>
        </p:spPr>
      </p:pic>
      <p:sp>
        <p:nvSpPr>
          <p:cNvPr id="13" name="Shape 9"/>
          <p:cNvSpPr/>
          <p:nvPr/>
        </p:nvSpPr>
        <p:spPr>
          <a:xfrm>
            <a:off x="6426498" y="2359025"/>
            <a:ext cx="2157115" cy="1022350"/>
          </a:xfrm>
          <a:prstGeom prst="roundRect">
            <a:avLst>
              <a:gd name="adj" fmla="val 9627"/>
            </a:avLst>
          </a:prstGeom>
          <a:solidFill>
            <a:srgbClr val="FBFAF6"/>
          </a:solidFill>
          <a:ln w="6350">
            <a:solidFill>
              <a:srgbClr val="DAD6C8"/>
            </a:solidFill>
            <a:prstDash val="solid"/>
          </a:ln>
        </p:spPr>
        <p:txBody>
          <a:bodyPr/>
          <a:lstStyle/>
          <a:p>
            <a:endParaRPr lang="es-CO"/>
          </a:p>
        </p:txBody>
      </p:sp>
      <p:sp>
        <p:nvSpPr>
          <p:cNvPr id="14" name="Text 10"/>
          <p:cNvSpPr/>
          <p:nvPr/>
        </p:nvSpPr>
        <p:spPr>
          <a:xfrm>
            <a:off x="6582073" y="2501900"/>
            <a:ext cx="1901344" cy="33020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176B7B"/>
                </a:solidFill>
                <a:latin typeface="Arial" pitchFamily="34" charset="0"/>
                <a:ea typeface="Arial" pitchFamily="34" charset="-122"/>
                <a:cs typeface="Arial" pitchFamily="34" charset="-120"/>
              </a:rPr>
              <a:t>24.171.385</a:t>
            </a:r>
            <a:endParaRPr lang="en-US" sz="2200" dirty="0"/>
          </a:p>
        </p:txBody>
      </p:sp>
      <p:sp>
        <p:nvSpPr>
          <p:cNvPr id="15" name="Text 11"/>
          <p:cNvSpPr/>
          <p:nvPr/>
        </p:nvSpPr>
        <p:spPr>
          <a:xfrm>
            <a:off x="6582073" y="2844800"/>
            <a:ext cx="1901344" cy="234950"/>
          </a:xfrm>
          <a:prstGeom prst="rect">
            <a:avLst/>
          </a:prstGeom>
          <a:noFill/>
          <a:ln/>
        </p:spPr>
        <p:txBody>
          <a:bodyPr wrap="square" lIns="0" tIns="0" rIns="0" bIns="0" rtlCol="0" anchor="t">
            <a:normAutofit/>
          </a:bodyPr>
          <a:lstStyle/>
          <a:p>
            <a:pPr marL="0" indent="0" algn="l">
              <a:lnSpc>
                <a:spcPts val="1690"/>
              </a:lnSpc>
              <a:buNone/>
            </a:pPr>
            <a:r>
              <a:rPr lang="en-US" sz="1000" dirty="0">
                <a:solidFill>
                  <a:srgbClr val="55606B"/>
                </a:solidFill>
                <a:latin typeface="Arial" pitchFamily="34" charset="0"/>
                <a:ea typeface="Arial" pitchFamily="34" charset="-122"/>
                <a:cs typeface="Arial" pitchFamily="34" charset="-120"/>
              </a:rPr>
              <a:t>23.634.669</a:t>
            </a:r>
            <a:endParaRPr lang="en-US" sz="1300" dirty="0"/>
          </a:p>
        </p:txBody>
      </p:sp>
      <p:pic>
        <p:nvPicPr>
          <p:cNvPr id="16" name="Image 2" descr="arrow-right"/>
          <p:cNvPicPr>
            <a:picLocks noChangeAspect="1"/>
          </p:cNvPicPr>
          <p:nvPr/>
        </p:nvPicPr>
        <p:blipFill>
          <a:blip ns2:embed="rId3"/>
          <a:srcRect/>
          <a:stretch/>
        </p:blipFill>
        <p:spPr>
          <a:xfrm>
            <a:off x="8688388" y="2768600"/>
            <a:ext cx="254000" cy="203200"/>
          </a:xfrm>
          <a:prstGeom prst="rect">
            <a:avLst/>
          </a:prstGeom>
        </p:spPr>
      </p:pic>
      <p:sp>
        <p:nvSpPr>
          <p:cNvPr id="17" name="Shape 12"/>
          <p:cNvSpPr/>
          <p:nvPr/>
        </p:nvSpPr>
        <p:spPr>
          <a:xfrm>
            <a:off x="9043988" y="2355850"/>
            <a:ext cx="2335312" cy="1028700"/>
          </a:xfrm>
          <a:prstGeom prst="roundRect">
            <a:avLst>
              <a:gd name="adj" fmla="val 9877"/>
            </a:avLst>
          </a:prstGeom>
          <a:solidFill>
            <a:srgbClr val="13243B"/>
          </a:solidFill>
          <a:ln/>
        </p:spPr>
        <p:txBody>
          <a:bodyPr/>
          <a:lstStyle/>
          <a:p>
            <a:endParaRPr lang="es-CO"/>
          </a:p>
        </p:txBody>
      </p:sp>
      <p:sp>
        <p:nvSpPr>
          <p:cNvPr id="18" name="Text 13"/>
          <p:cNvSpPr/>
          <p:nvPr/>
        </p:nvSpPr>
        <p:spPr>
          <a:xfrm>
            <a:off x="9196388" y="2495550"/>
            <a:ext cx="2091427" cy="33020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E9A23B"/>
                </a:solidFill>
                <a:latin typeface="Arial" pitchFamily="34" charset="0"/>
                <a:ea typeface="Arial" pitchFamily="34" charset="-122"/>
                <a:cs typeface="Arial" pitchFamily="34" charset="-120"/>
              </a:rPr>
              <a:t>24.171.385</a:t>
            </a:r>
            <a:endParaRPr lang="en-US" sz="2200" dirty="0"/>
          </a:p>
        </p:txBody>
      </p:sp>
      <p:sp>
        <p:nvSpPr>
          <p:cNvPr id="19" name="Text 14"/>
          <p:cNvSpPr/>
          <p:nvPr/>
        </p:nvSpPr>
        <p:spPr>
          <a:xfrm>
            <a:off x="9196388" y="2838450"/>
            <a:ext cx="2091427" cy="419100"/>
          </a:xfrm>
          <a:prstGeom prst="rect">
            <a:avLst/>
          </a:prstGeom>
          <a:noFill/>
          <a:ln/>
        </p:spPr>
        <p:txBody>
          <a:bodyPr wrap="square" lIns="0" tIns="0" rIns="0" bIns="0" rtlCol="0" anchor="t">
            <a:normAutofit/>
          </a:bodyPr>
          <a:lstStyle/>
          <a:p>
            <a:pPr marL="0" indent="0" algn="l">
              <a:lnSpc>
                <a:spcPts val="1560"/>
              </a:lnSpc>
              <a:buNone/>
            </a:pPr>
            <a:r>
              <a:rPr lang="en-US" sz="950" dirty="0">
                <a:solidFill>
                  <a:srgbClr val="B8C4D2"/>
                </a:solidFill>
                <a:latin typeface="Arial" pitchFamily="34" charset="0"/>
                <a:ea typeface="Arial" pitchFamily="34" charset="-122"/>
                <a:cs typeface="Arial" pitchFamily="34" charset="-120"/>
              </a:rPr>
              <a:t>vuelos con resultado conocido</a:t>
            </a:r>
            <a:endParaRPr lang="en-US" sz="1200" dirty="0"/>
          </a:p>
        </p:txBody>
      </p:sp>
      <p:sp>
        <p:nvSpPr>
          <p:cNvPr id="20" name="Text 15"/>
          <p:cNvSpPr/>
          <p:nvPr/>
        </p:nvSpPr>
        <p:spPr>
          <a:xfrm>
            <a:off x="812800" y="35877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55606B"/>
                </a:solidFill>
                <a:latin typeface="Arial" pitchFamily="34" charset="0"/>
                <a:ea typeface="Arial" pitchFamily="34" charset="-122"/>
                <a:cs typeface="Arial" pitchFamily="34" charset="-120"/>
              </a:rPr>
              <a:t>Alcance temporal; 2020 excluido</a:t>
            </a:r>
            <a:endParaRPr lang="en-US" sz="1500" dirty="0"/>
          </a:p>
        </p:txBody>
      </p:sp>
      <p:sp>
        <p:nvSpPr>
          <p:cNvPr id="21" name="Shape 16"/>
          <p:cNvSpPr/>
          <p:nvPr/>
        </p:nvSpPr>
        <p:spPr>
          <a:xfrm>
            <a:off x="812800" y="4057650"/>
            <a:ext cx="2107109" cy="1098550"/>
          </a:xfrm>
          <a:prstGeom prst="roundRect">
            <a:avLst>
              <a:gd name="adj" fmla="val 6936"/>
            </a:avLst>
          </a:prstGeom>
          <a:solidFill>
            <a:srgbClr val="C9D3DE"/>
          </a:solidFill>
          <a:ln/>
        </p:spPr>
        <p:txBody>
          <a:bodyPr/>
          <a:lstStyle/>
          <a:p>
            <a:endParaRPr lang="es-CO"/>
          </a:p>
        </p:txBody>
      </p:sp>
      <p:sp>
        <p:nvSpPr>
          <p:cNvPr id="22" name="Text 17"/>
          <p:cNvSpPr/>
          <p:nvPr/>
        </p:nvSpPr>
        <p:spPr>
          <a:xfrm>
            <a:off x="939800" y="4184650"/>
            <a:ext cx="1908702" cy="254000"/>
          </a:xfrm>
          <a:prstGeom prst="rect">
            <a:avLst/>
          </a:prstGeom>
          <a:noFill/>
          <a:ln/>
        </p:spPr>
        <p:txBody>
          <a:bodyPr wrap="square" lIns="0" tIns="0" rIns="0" bIns="0" rtlCol="0" anchor="t">
            <a:normAutofit/>
          </a:bodyPr>
          <a:lstStyle/>
          <a:p>
            <a:pPr marL="0" indent="0" algn="l">
              <a:lnSpc>
                <a:spcPts val="1820"/>
              </a:lnSpc>
              <a:buNone/>
            </a:pPr>
            <a:r>
              <a:rPr lang="en-US" sz="1000" b="1" dirty="0">
                <a:solidFill>
                  <a:srgbClr val="16222F"/>
                </a:solidFill>
                <a:latin typeface="Arial" pitchFamily="34" charset="0"/>
                <a:ea typeface="Arial" pitchFamily="34" charset="-122"/>
                <a:cs typeface="Arial" pitchFamily="34" charset="-120"/>
              </a:rPr>
              <a:t>Periodo analítico</a:t>
            </a:r>
            <a:endParaRPr lang="en-US" sz="1300" dirty="0"/>
          </a:p>
        </p:txBody>
      </p:sp>
      <p:sp>
        <p:nvSpPr>
          <p:cNvPr id="23" name="Text 18"/>
          <p:cNvSpPr/>
          <p:nvPr/>
        </p:nvSpPr>
        <p:spPr>
          <a:xfrm>
            <a:off x="939800" y="4438650"/>
            <a:ext cx="1908702" cy="234950"/>
          </a:xfrm>
          <a:prstGeom prst="rect">
            <a:avLst/>
          </a:prstGeom>
          <a:noFill/>
          <a:ln/>
        </p:spPr>
        <p:txBody>
          <a:bodyPr wrap="square" lIns="0" tIns="0" rIns="0" bIns="0" rtlCol="0" anchor="t">
            <a:normAutofit/>
          </a:bodyPr>
          <a:lstStyle/>
          <a:p>
            <a:pPr marL="0" indent="0" algn="l">
              <a:lnSpc>
                <a:spcPts val="1680"/>
              </a:lnSpc>
              <a:buNone/>
            </a:pPr>
            <a:r>
              <a:rPr lang="en-US" sz="900" dirty="0">
                <a:solidFill>
                  <a:srgbClr val="16222F"/>
                </a:solidFill>
                <a:latin typeface="Arial" pitchFamily="34" charset="0"/>
                <a:ea typeface="Arial" pitchFamily="34" charset="-122"/>
                <a:cs typeface="Arial" pitchFamily="34" charset="-120"/>
              </a:rPr>
              <a:t>2018, 2019, 2021 y 2022</a:t>
            </a:r>
            <a:endParaRPr lang="en-US" sz="1200" dirty="0"/>
          </a:p>
        </p:txBody>
      </p:sp>
      <p:sp>
        <p:nvSpPr>
          <p:cNvPr id="24" name="Text 19"/>
          <p:cNvSpPr/>
          <p:nvPr/>
        </p:nvSpPr>
        <p:spPr>
          <a:xfrm>
            <a:off x="939800" y="4673600"/>
            <a:ext cx="1908702" cy="381000"/>
          </a:xfrm>
          <a:prstGeom prst="rect">
            <a:avLst/>
          </a:prstGeom>
          <a:noFill/>
          <a:ln/>
        </p:spPr>
        <p:txBody>
          <a:bodyPr wrap="square" lIns="0" tIns="0" rIns="0" bIns="0" rtlCol="0" anchor="t">
            <a:normAutofit/>
          </a:bodyPr>
          <a:lstStyle/>
          <a:p>
            <a:pPr marL="0" indent="0" algn="l">
              <a:lnSpc>
                <a:spcPts val="2800"/>
              </a:lnSpc>
              <a:buNone/>
            </a:pPr>
            <a:r>
              <a:rPr lang="en-US" sz="1000" b="1" dirty="0">
                <a:solidFill>
                  <a:srgbClr val="16222F"/>
                </a:solidFill>
                <a:latin typeface="Arial" pitchFamily="34" charset="0"/>
                <a:ea typeface="Arial" pitchFamily="34" charset="-122"/>
                <a:cs typeface="Arial" pitchFamily="34" charset="-120"/>
              </a:rPr>
              <a:t>ene–jul · 2020 excluido</a:t>
            </a:r>
            <a:endParaRPr lang="en-US" sz="2000" dirty="0"/>
          </a:p>
        </p:txBody>
      </p:sp>
      <p:sp>
        <p:nvSpPr>
          <p:cNvPr id="25" name="Shape 20"/>
          <p:cNvSpPr/>
          <p:nvPr/>
        </p:nvSpPr>
        <p:spPr>
          <a:xfrm>
            <a:off x="2970709" y="4057650"/>
            <a:ext cx="4440833" cy="1098550"/>
          </a:xfrm>
          <a:prstGeom prst="roundRect">
            <a:avLst>
              <a:gd name="adj" fmla="val 6936"/>
            </a:avLst>
          </a:prstGeom>
          <a:solidFill>
            <a:srgbClr val="176B7B"/>
          </a:solidFill>
          <a:ln/>
        </p:spPr>
        <p:txBody>
          <a:bodyPr/>
          <a:lstStyle/>
          <a:p>
            <a:endParaRPr lang="es-CO"/>
          </a:p>
        </p:txBody>
      </p:sp>
      <p:sp>
        <p:nvSpPr>
          <p:cNvPr id="26" name="Text 21"/>
          <p:cNvSpPr/>
          <p:nvPr/>
        </p:nvSpPr>
        <p:spPr>
          <a:xfrm>
            <a:off x="3097709" y="4184650"/>
            <a:ext cx="4312438" cy="2540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5F3EC"/>
                </a:solidFill>
                <a:latin typeface="Arial" pitchFamily="34" charset="0"/>
                <a:ea typeface="Arial" pitchFamily="34" charset="-122"/>
                <a:cs typeface="Arial" pitchFamily="34" charset="-120"/>
              </a:rPr>
              <a:t>2021 · Logística y Boosting</a:t>
            </a:r>
            <a:endParaRPr lang="en-US" sz="1300" dirty="0"/>
          </a:p>
        </p:txBody>
      </p:sp>
      <p:sp>
        <p:nvSpPr>
          <p:cNvPr id="27" name="Text 22"/>
          <p:cNvSpPr/>
          <p:nvPr/>
        </p:nvSpPr>
        <p:spPr>
          <a:xfrm>
            <a:off x="3097709" y="4438650"/>
            <a:ext cx="4312438"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3EC"/>
                </a:solidFill>
                <a:latin typeface="Arial" pitchFamily="34" charset="0"/>
                <a:ea typeface="Arial" pitchFamily="34" charset="-122"/>
                <a:cs typeface="Arial" pitchFamily="34" charset="-120"/>
              </a:rPr>
              <a:t>Muestra de 400.000 vuelos</a:t>
            </a:r>
            <a:endParaRPr lang="en-US" sz="1200" dirty="0"/>
          </a:p>
        </p:txBody>
      </p:sp>
      <p:sp>
        <p:nvSpPr>
          <p:cNvPr id="28" name="Text 23"/>
          <p:cNvSpPr/>
          <p:nvPr/>
        </p:nvSpPr>
        <p:spPr>
          <a:xfrm>
            <a:off x="3097709" y="4673600"/>
            <a:ext cx="4312438"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5F3EC"/>
                </a:solidFill>
                <a:latin typeface="Arial" pitchFamily="34" charset="0"/>
                <a:ea typeface="Arial" pitchFamily="34" charset="-122"/>
                <a:cs typeface="Arial" pitchFamily="34" charset="-120"/>
              </a:rPr>
              <a:t>Comparación justa: 400.000 vuelos</a:t>
            </a:r>
            <a:endParaRPr lang="en-US" sz="2000" dirty="0"/>
          </a:p>
        </p:txBody>
      </p:sp>
      <p:sp>
        <p:nvSpPr>
          <p:cNvPr id="29" name="Shape 24"/>
          <p:cNvSpPr/>
          <p:nvPr/>
        </p:nvSpPr>
        <p:spPr>
          <a:xfrm>
            <a:off x="7462341" y="4057650"/>
            <a:ext cx="2305943" cy="1098550"/>
          </a:xfrm>
          <a:prstGeom prst="roundRect">
            <a:avLst>
              <a:gd name="adj" fmla="val 6936"/>
            </a:avLst>
          </a:prstGeom>
          <a:solidFill>
            <a:srgbClr val="E9A23B"/>
          </a:solidFill>
          <a:ln/>
        </p:spPr>
        <p:txBody>
          <a:bodyPr/>
          <a:lstStyle/>
          <a:p>
            <a:endParaRPr lang="es-CO"/>
          </a:p>
        </p:txBody>
      </p:sp>
      <p:sp>
        <p:nvSpPr>
          <p:cNvPr id="30" name="Text 25"/>
          <p:cNvSpPr/>
          <p:nvPr/>
        </p:nvSpPr>
        <p:spPr>
          <a:xfrm>
            <a:off x="7589341" y="4184650"/>
            <a:ext cx="2113501" cy="2540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243B"/>
                </a:solidFill>
                <a:latin typeface="Arial" pitchFamily="34" charset="0"/>
                <a:ea typeface="Arial" pitchFamily="34" charset="-122"/>
                <a:cs typeface="Arial" pitchFamily="34" charset="-120"/>
              </a:rPr>
              <a:t>2021 · Boosting 1M</a:t>
            </a:r>
            <a:endParaRPr lang="en-US" sz="1300" dirty="0"/>
          </a:p>
        </p:txBody>
      </p:sp>
      <p:sp>
        <p:nvSpPr>
          <p:cNvPr id="31" name="Text 26"/>
          <p:cNvSpPr/>
          <p:nvPr/>
        </p:nvSpPr>
        <p:spPr>
          <a:xfrm>
            <a:off x="7589341" y="4438650"/>
            <a:ext cx="2113501"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43B"/>
                </a:solidFill>
                <a:latin typeface="Arial" pitchFamily="34" charset="0"/>
                <a:ea typeface="Arial" pitchFamily="34" charset="-122"/>
                <a:cs typeface="Arial" pitchFamily="34" charset="-120"/>
              </a:rPr>
              <a:t>Ene–sep · 1 M</a:t>
            </a:r>
            <a:endParaRPr lang="en-US" sz="1200" dirty="0"/>
          </a:p>
        </p:txBody>
      </p:sp>
      <p:sp>
        <p:nvSpPr>
          <p:cNvPr id="32" name="Text 27"/>
          <p:cNvSpPr/>
          <p:nvPr/>
        </p:nvSpPr>
        <p:spPr>
          <a:xfrm>
            <a:off x="7589341" y="4673600"/>
            <a:ext cx="2113501"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3243B"/>
                </a:solidFill>
                <a:latin typeface="Arial" pitchFamily="34" charset="0"/>
                <a:ea typeface="Arial" pitchFamily="34" charset="-122"/>
                <a:cs typeface="Arial" pitchFamily="34" charset="-120"/>
              </a:rPr>
              <a:t>Q4 · validación</a:t>
            </a:r>
            <a:endParaRPr lang="en-US" sz="2000" dirty="0"/>
          </a:p>
        </p:txBody>
      </p:sp>
      <p:sp>
        <p:nvSpPr>
          <p:cNvPr id="33" name="Shape 28"/>
          <p:cNvSpPr/>
          <p:nvPr/>
        </p:nvSpPr>
        <p:spPr>
          <a:xfrm>
            <a:off x="9819084" y="4057650"/>
            <a:ext cx="1560116" cy="1098550"/>
          </a:xfrm>
          <a:prstGeom prst="roundRect">
            <a:avLst>
              <a:gd name="adj" fmla="val 6936"/>
            </a:avLst>
          </a:prstGeom>
          <a:solidFill>
            <a:srgbClr val="13243B"/>
          </a:solidFill>
          <a:ln/>
        </p:spPr>
        <p:txBody>
          <a:bodyPr/>
          <a:lstStyle/>
          <a:p>
            <a:endParaRPr lang="es-CO"/>
          </a:p>
        </p:txBody>
      </p:sp>
      <p:sp>
        <p:nvSpPr>
          <p:cNvPr id="34" name="Text 29"/>
          <p:cNvSpPr/>
          <p:nvPr/>
        </p:nvSpPr>
        <p:spPr>
          <a:xfrm>
            <a:off x="9946084" y="4184650"/>
            <a:ext cx="1356916" cy="2540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5F3EC"/>
                </a:solidFill>
                <a:latin typeface="Arial" pitchFamily="34" charset="0"/>
                <a:ea typeface="Arial" pitchFamily="34" charset="-122"/>
                <a:cs typeface="Arial" pitchFamily="34" charset="-120"/>
              </a:rPr>
              <a:t>2022 · Eval.</a:t>
            </a:r>
            <a:endParaRPr lang="en-US" sz="1300" dirty="0"/>
          </a:p>
        </p:txBody>
      </p:sp>
      <p:sp>
        <p:nvSpPr>
          <p:cNvPr id="35" name="Text 30"/>
          <p:cNvSpPr/>
          <p:nvPr/>
        </p:nvSpPr>
        <p:spPr>
          <a:xfrm>
            <a:off x="9946084" y="4438650"/>
            <a:ext cx="1356916"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3EC"/>
                </a:solidFill>
                <a:latin typeface="Arial" pitchFamily="34" charset="0"/>
                <a:ea typeface="Arial" pitchFamily="34" charset="-122"/>
                <a:cs typeface="Arial" pitchFamily="34" charset="-120"/>
              </a:rPr>
              <a:t>Ene–jul</a:t>
            </a:r>
            <a:endParaRPr lang="en-US" sz="1200" dirty="0"/>
          </a:p>
        </p:txBody>
      </p:sp>
      <p:sp>
        <p:nvSpPr>
          <p:cNvPr id="36" name="Text 31"/>
          <p:cNvSpPr/>
          <p:nvPr/>
        </p:nvSpPr>
        <p:spPr>
          <a:xfrm>
            <a:off x="9946084" y="4673600"/>
            <a:ext cx="135691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5F3EC"/>
                </a:solidFill>
                <a:latin typeface="Arial" pitchFamily="34" charset="0"/>
                <a:ea typeface="Arial" pitchFamily="34" charset="-122"/>
                <a:cs typeface="Arial" pitchFamily="34" charset="-120"/>
              </a:rPr>
              <a:t>No indep.</a:t>
            </a:r>
            <a:endParaRPr lang="en-US" sz="2000" dirty="0"/>
          </a:p>
        </p:txBody>
      </p:sp>
      <p:sp>
        <p:nvSpPr>
          <p:cNvPr id="37" name="Text 32"/>
          <p:cNvSpPr/>
          <p:nvPr/>
        </p:nvSpPr>
        <p:spPr>
          <a:xfrm>
            <a:off x="812800" y="5359400"/>
            <a:ext cx="10883392" cy="49530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6222F"/>
                </a:solidFill>
                <a:latin typeface="Arial" pitchFamily="34" charset="0"/>
                <a:ea typeface="Arial" pitchFamily="34" charset="-122"/>
                <a:cs typeface="Arial" pitchFamily="34" charset="-120"/>
              </a:rPr>
              <a:t>Logística 400k y Boosting 400k usan la misma muestra 2021; Boosting 1M se presenta aparte. Validación: oct–dic 2021.</a:t>
            </a:r>
            <a:r>
              <a:rPr lang="en-US" sz="1400" dirty="0">
                <a:solidFill>
                  <a:srgbClr val="16222F"/>
                </a:solidFill>
                <a:latin typeface="Arial" pitchFamily="34" charset="0"/>
                <a:ea typeface="Arial" pitchFamily="34" charset="-122"/>
                <a:cs typeface="Arial" pitchFamily="34" charset="-120"/>
              </a:rPr>
              <a:t/>
            </a:r>
            <a:endParaRPr lang="en-US" sz="1400" dirty="0"/>
          </a:p>
        </p:txBody>
      </p:sp>
      <p:sp>
        <p:nvSpPr>
          <p:cNvPr id="38" name="Text 33"/>
          <p:cNvSpPr/>
          <p:nvPr/>
        </p:nvSpPr>
        <p:spPr>
          <a:xfrm>
            <a:off x="812800" y="6242050"/>
            <a:ext cx="98107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Datos de EE. UU.; 2020 excluido de todo análisis. Colombia es una propuesta pendiente de validación local.</a:t>
            </a:r>
            <a:endParaRPr lang="en-US" sz="1200" dirty="0"/>
          </a:p>
        </p:txBody>
      </p:sp>
      <p:sp>
        <p:nvSpPr>
          <p:cNvPr id="39" name="Text 34"/>
          <p:cNvSpPr/>
          <p:nvPr/>
        </p:nvSpPr>
        <p:spPr>
          <a:xfrm>
            <a:off x="10693400" y="6242050"/>
            <a:ext cx="685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p="http://schemas.openxmlformats.org/presentationml/2006/main">
  <p:cSld name="Slide 8">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778"/>
          </a:xfrm>
          <a:prstGeom prst="rect">
            <a:avLst/>
          </a:prstGeom>
          <a:noFill/>
          <a:ln/>
        </p:spPr>
        <p:txBody>
          <a:bodyPr wrap="square" lIns="0" tIns="0" rIns="0" bIns="0" rtlCol="0" anchor="t">
            <a:normAutofit/>
          </a:bodyPr>
          <a:lstStyle/>
          <a:p>
            <a:pPr marL="0" indent="0" algn="l">
              <a:lnSpc>
                <a:spcPts val="1850"/>
              </a:lnSpc>
              <a:buNone/>
            </a:pPr>
            <a:r>
              <a:rPr lang="en-US" sz="1321" b="1" kern="0" spc="100" dirty="0">
                <a:solidFill>
                  <a:srgbClr val="176B7B"/>
                </a:solidFill>
                <a:latin typeface="Arial" pitchFamily="34" charset="0"/>
                <a:ea typeface="Arial" pitchFamily="34" charset="-122"/>
                <a:cs typeface="Arial" pitchFamily="34" charset="-120"/>
              </a:rPr>
              <a:t>5 · RESULTADOS</a:t>
            </a:r>
            <a:endParaRPr lang="en-US" sz="1321" dirty="0"/>
          </a:p>
        </p:txBody>
      </p:sp>
      <p:sp>
        <p:nvSpPr>
          <p:cNvPr id="3" name="Text 1"/>
          <p:cNvSpPr>
            <a:spLocks noGrp="1"/>
          </p:cNvSpPr>
          <p:nvPr>
            <p:ph type="title"/>
          </p:nvPr>
        </p:nvSpPr>
        <p:spPr>
          <a:xfrm>
            <a:off x="812800" y="1298178"/>
            <a:ext cx="10883392" cy="417016"/>
          </a:xfrm>
          <a:prstGeom prst="rect">
            <a:avLst/>
          </a:prstGeom>
          <a:noFill/>
          <a:ln/>
        </p:spPr>
        <p:txBody>
          <a:bodyPr wrap="square" lIns="0" tIns="0" rIns="0" bIns="0" rtlCol="0" anchor="t">
            <a:normAutofit/>
          </a:bodyPr>
          <a:lstStyle/>
          <a:p>
            <a:pPr marL="0" indent="0" algn="l">
              <a:lnSpc>
                <a:spcPts val="3145"/>
              </a:lnSpc>
              <a:buNone/>
            </a:pPr>
            <a:r>
              <a:rPr lang="en-US" sz="2859" b="1" i="0" dirty="0">
                <a:solidFill>
                  <a:srgbClr val="16222F"/>
                </a:solidFill>
                <a:latin typeface="Arial" pitchFamily="34" charset="0"/>
                <a:ea typeface="Arial" pitchFamily="34" charset="-122"/>
                <a:cs typeface="Arial" pitchFamily="34" charset="-120"/>
              </a:rPr>
              <a:t>Comparación retrospectiva del 10 % de vuelos con mayor riesgo</a:t>
            </a:r>
            <a:endParaRPr lang="en-US" sz="2859" dirty="0"/>
          </a:p>
        </p:txBody>
      </p:sp>
      <p:sp>
        <p:nvSpPr>
          <p:cNvPr id="4" name="Shape 2"/>
          <p:cNvSpPr/>
          <p:nvPr/>
        </p:nvSpPr>
        <p:spPr>
          <a:xfrm>
            <a:off x="815975" y="1946970"/>
            <a:ext cx="6343650" cy="3891855"/>
          </a:xfrm>
          <a:prstGeom prst="roundRect">
            <a:avLst>
              <a:gd name="adj" fmla="val 2529"/>
            </a:avLst>
          </a:prstGeom>
          <a:solidFill>
            <a:srgbClr val="FBFAF6"/>
          </a:solidFill>
          <a:ln w="6350">
            <a:solidFill>
              <a:srgbClr val="DAD6C8"/>
            </a:solidFill>
            <a:prstDash val="solid"/>
          </a:ln>
        </p:spPr>
        <p:txBody>
          <a:bodyPr/>
          <a:lstStyle/>
          <a:p>
            <a:endParaRPr lang="es-CO"/>
          </a:p>
        </p:txBody>
      </p:sp>
      <p:sp>
        <p:nvSpPr>
          <p:cNvPr id="5" name="Text 3"/>
          <p:cNvSpPr/>
          <p:nvPr/>
        </p:nvSpPr>
        <p:spPr>
          <a:xfrm>
            <a:off x="996950" y="2127945"/>
            <a:ext cx="6161151" cy="448568"/>
          </a:xfrm>
          <a:prstGeom prst="rect">
            <a:avLst/>
          </a:prstGeom>
          <a:noFill/>
          <a:ln/>
        </p:spPr>
        <p:txBody>
          <a:bodyPr wrap="square" lIns="0" tIns="0" rIns="0" bIns="0" rtlCol="0" anchor="t">
            <a:normAutofit/>
          </a:bodyPr>
          <a:lstStyle/>
          <a:p>
            <a:pPr marL="0" indent="0" algn="l">
              <a:lnSpc>
                <a:spcPts val="1695"/>
              </a:lnSpc>
              <a:buNone/>
            </a:pPr>
            <a:r>
              <a:rPr lang="en-US" sz="1304" b="1" dirty="0">
                <a:solidFill>
                  <a:srgbClr val="16222F"/>
                </a:solidFill>
                <a:latin typeface="Arial" pitchFamily="34" charset="0"/>
                <a:ea typeface="Arial" pitchFamily="34" charset="-122"/>
                <a:cs typeface="Arial" pitchFamily="34" charset="-120"/>
              </a:rPr>
              <a:t>Retrasos detectados entre los mismos 394.492 vuelos comparados (10 %), ene–jul 2022</a:t>
            </a:r>
            <a:endParaRPr lang="en-US" sz="1304" dirty="0"/>
          </a:p>
        </p:txBody>
      </p:sp>
      <p:sp>
        <p:nvSpPr>
          <p:cNvPr id="6" name="Text 4"/>
          <p:cNvSpPr/>
          <p:nvPr/>
        </p:nvSpPr>
        <p:spPr>
          <a:xfrm>
            <a:off x="1281748" y="3784600"/>
            <a:ext cx="792480" cy="323850"/>
          </a:xfrm>
          <a:prstGeom prst="rect">
            <a:avLst/>
          </a:prstGeom>
          <a:noFill/>
          <a:ln/>
        </p:spPr>
        <p:txBody>
          <a:bodyPr wrap="square" lIns="0" tIns="0" rIns="0" bIns="0" rtlCol="0" anchor="t">
            <a:normAutofit/>
          </a:bodyPr>
          <a:lstStyle/>
          <a:p>
            <a:pPr marL="0" indent="0" algn="ctr">
              <a:lnSpc>
                <a:spcPts val="2380"/>
              </a:lnSpc>
              <a:buNone/>
            </a:pPr>
            <a:r>
              <a:rPr lang="en-US" sz="1700" b="1" dirty="0">
                <a:solidFill>
                  <a:srgbClr val="16222F"/>
                </a:solidFill>
                <a:latin typeface="Arial" pitchFamily="34" charset="0"/>
                <a:ea typeface="Arial" pitchFamily="34" charset="-122"/>
                <a:cs typeface="Arial" pitchFamily="34" charset="-120"/>
              </a:rPr>
              <a:t>85.396</a:t>
            </a:r>
            <a:endParaRPr lang="en-US" sz="1700" dirty="0"/>
          </a:p>
        </p:txBody>
      </p:sp>
      <p:sp>
        <p:nvSpPr>
          <p:cNvPr id="7" name="Shape 5"/>
          <p:cNvSpPr/>
          <p:nvPr/>
        </p:nvSpPr>
        <p:spPr>
          <a:xfrm>
            <a:off x="1201738" y="4146550"/>
            <a:ext cx="952500" cy="1257300"/>
          </a:xfrm>
          <a:custGeom>
            <a:avLst/>
            <a:gdLst/>
            <a:ahLst/>
            <a:cxnLst/>
            <a:rect l="l" t="t" r="r" b="b"/>
            <a:pathLst>
              <a:path w="952500" h="1257300">
                <a:moveTo>
                  <a:pt x="50800" y="0"/>
                </a:moveTo>
                <a:lnTo>
                  <a:pt x="901700" y="0"/>
                </a:lnTo>
                <a:arcTo wR="50800" hR="50800" stAng="16200000" swAng="5400000"/>
                <a:lnTo>
                  <a:pt x="952500" y="1257300"/>
                </a:lnTo>
                <a:lnTo>
                  <a:pt x="0" y="1257300"/>
                </a:lnTo>
                <a:lnTo>
                  <a:pt x="0" y="50800"/>
                </a:lnTo>
                <a:arcTo wR="50800" hR="50800" stAng="10800000" swAng="5400000"/>
                <a:close/>
              </a:path>
            </a:pathLst>
          </a:custGeom>
          <a:solidFill>
            <a:srgbClr val="C9C4B3"/>
          </a:solidFill>
          <a:ln/>
        </p:spPr>
        <p:txBody>
          <a:bodyPr/>
          <a:lstStyle/>
          <a:p>
            <a:endParaRPr lang="es-CO"/>
          </a:p>
        </p:txBody>
      </p:sp>
      <p:sp>
        <p:nvSpPr>
          <p:cNvPr id="8" name="Text 6"/>
          <p:cNvSpPr/>
          <p:nvPr/>
        </p:nvSpPr>
        <p:spPr>
          <a:xfrm>
            <a:off x="936000" y="5467350"/>
            <a:ext cx="1483876" cy="215900"/>
          </a:xfrm>
          <a:prstGeom prst="rect">
            <a:avLst/>
          </a:prstGeom>
          <a:noFill/>
          <a:ln/>
        </p:spPr>
        <p:txBody>
          <a:bodyPr wrap="square" lIns="0" tIns="0" rIns="0" bIns="0" rtlCol="0" anchor="t">
            <a:normAutofit/>
          </a:bodyPr>
          <a:lstStyle/>
          <a:p>
            <a:pPr marL="0" indent="0" algn="ctr">
              <a:lnSpc>
                <a:spcPts val="1500"/>
              </a:lnSpc>
              <a:buNone/>
            </a:pPr>
            <a:r>
              <a:rPr lang="en-US" sz="1200" dirty="0">
                <a:solidFill>
                  <a:srgbClr val="55606B"/>
                </a:solidFill>
                <a:latin typeface="Arial" pitchFamily="34" charset="0"/>
                <a:ea typeface="Arial" pitchFamily="34" charset="-122"/>
                <a:cs typeface="Arial" pitchFamily="34" charset="-120"/>
              </a:rPr>
              <a:t>Al azar</a:t>
            </a:r>
            <a:endParaRPr lang="en-US" sz="1200" dirty="0"/>
          </a:p>
        </p:txBody>
      </p:sp>
      <p:sp>
        <p:nvSpPr>
          <p:cNvPr id="9" name="Text 7"/>
          <p:cNvSpPr/>
          <p:nvPr/>
        </p:nvSpPr>
        <p:spPr>
          <a:xfrm>
            <a:off x="2749590" y="3200400"/>
            <a:ext cx="936546" cy="323850"/>
          </a:xfrm>
          <a:prstGeom prst="rect">
            <a:avLst/>
          </a:prstGeom>
          <a:noFill/>
          <a:ln/>
        </p:spPr>
        <p:txBody>
          <a:bodyPr wrap="square" lIns="0" tIns="0" rIns="0" bIns="0" rtlCol="0" anchor="t">
            <a:normAutofit/>
          </a:bodyPr>
          <a:lstStyle/>
          <a:p>
            <a:pPr marL="0" indent="0" algn="ctr">
              <a:lnSpc>
                <a:spcPts val="2380"/>
              </a:lnSpc>
              <a:buNone/>
            </a:pPr>
            <a:r>
              <a:rPr lang="en-US" sz="1700" b="1" dirty="0">
                <a:solidFill>
                  <a:srgbClr val="16222F"/>
                </a:solidFill>
                <a:latin typeface="Arial" pitchFamily="34" charset="0"/>
                <a:ea typeface="Arial" pitchFamily="34" charset="-122"/>
                <a:cs typeface="Arial" pitchFamily="34" charset="-120"/>
              </a:rPr>
              <a:t>156.592</a:t>
            </a:r>
            <a:endParaRPr lang="en-US" sz="1700" dirty="0"/>
          </a:p>
        </p:txBody>
      </p:sp>
      <p:sp>
        <p:nvSpPr>
          <p:cNvPr id="10" name="Shape 8"/>
          <p:cNvSpPr/>
          <p:nvPr/>
        </p:nvSpPr>
        <p:spPr>
          <a:xfrm>
            <a:off x="2741613" y="3562350"/>
            <a:ext cx="952500" cy="1841500"/>
          </a:xfrm>
          <a:custGeom>
            <a:avLst/>
            <a:gdLst/>
            <a:ahLst/>
            <a:cxnLst/>
            <a:rect l="l" t="t" r="r" b="b"/>
            <a:pathLst>
              <a:path w="952500" h="1841500">
                <a:moveTo>
                  <a:pt x="50800" y="0"/>
                </a:moveTo>
                <a:lnTo>
                  <a:pt x="901700" y="0"/>
                </a:lnTo>
                <a:arcTo wR="50800" hR="50800" stAng="16200000" swAng="5400000"/>
                <a:lnTo>
                  <a:pt x="952500" y="1841500"/>
                </a:lnTo>
                <a:lnTo>
                  <a:pt x="0" y="1841500"/>
                </a:lnTo>
                <a:lnTo>
                  <a:pt x="0" y="50800"/>
                </a:lnTo>
                <a:arcTo wR="50800" hR="50800" stAng="10800000" swAng="5400000"/>
                <a:close/>
              </a:path>
            </a:pathLst>
          </a:custGeom>
          <a:solidFill>
            <a:srgbClr val="8FA3B8"/>
          </a:solidFill>
          <a:ln/>
        </p:spPr>
        <p:txBody>
          <a:bodyPr/>
          <a:lstStyle/>
          <a:p>
            <a:endParaRPr lang="es-CO"/>
          </a:p>
        </p:txBody>
      </p:sp>
      <p:sp>
        <p:nvSpPr>
          <p:cNvPr id="11" name="Text 9"/>
          <p:cNvSpPr/>
          <p:nvPr/>
        </p:nvSpPr>
        <p:spPr>
          <a:xfrm>
            <a:off x="2420293" y="5467350"/>
            <a:ext cx="1595041" cy="215900"/>
          </a:xfrm>
          <a:prstGeom prst="rect">
            <a:avLst/>
          </a:prstGeom>
          <a:noFill/>
          <a:ln/>
        </p:spPr>
        <p:txBody>
          <a:bodyPr wrap="square" lIns="0" tIns="0" rIns="0" bIns="0" rtlCol="0" anchor="t">
            <a:normAutofit/>
          </a:bodyPr>
          <a:lstStyle/>
          <a:p>
            <a:pPr marL="0" indent="0" algn="ctr">
              <a:lnSpc>
                <a:spcPts val="1500"/>
              </a:lnSpc>
              <a:buNone/>
            </a:pPr>
            <a:r>
              <a:rPr lang="en-US" sz="1200" dirty="0">
                <a:solidFill>
                  <a:srgbClr val="55606B"/>
                </a:solidFill>
                <a:latin typeface="Arial" pitchFamily="34" charset="0"/>
                <a:ea typeface="Arial" pitchFamily="34" charset="-122"/>
                <a:cs typeface="Arial" pitchFamily="34" charset="-120"/>
              </a:rPr>
              <a:t>Logística 400k</a:t>
            </a:r>
            <a:endParaRPr lang="en-US" sz="1200" dirty="0"/>
          </a:p>
        </p:txBody>
      </p:sp>
      <p:sp>
        <p:nvSpPr>
          <p:cNvPr id="12" name="Text 10"/>
          <p:cNvSpPr/>
          <p:nvPr/>
        </p:nvSpPr>
        <p:spPr>
          <a:xfrm>
            <a:off x="4289465" y="2908300"/>
            <a:ext cx="936546" cy="323850"/>
          </a:xfrm>
          <a:prstGeom prst="rect">
            <a:avLst/>
          </a:prstGeom>
          <a:noFill/>
          <a:ln/>
        </p:spPr>
        <p:txBody>
          <a:bodyPr wrap="square" lIns="0" tIns="0" rIns="0" bIns="0" rtlCol="0" anchor="t">
            <a:normAutofit/>
          </a:bodyPr>
          <a:lstStyle/>
          <a:p>
            <a:pPr marL="0" indent="0" algn="ctr">
              <a:lnSpc>
                <a:spcPts val="2380"/>
              </a:lnSpc>
              <a:buNone/>
            </a:pPr>
            <a:r>
              <a:rPr lang="en-US" sz="1700" b="1" dirty="0">
                <a:solidFill>
                  <a:srgbClr val="16222F"/>
                </a:solidFill>
                <a:latin typeface="Arial" pitchFamily="34" charset="0"/>
                <a:ea typeface="Arial" pitchFamily="34" charset="-122"/>
                <a:cs typeface="Arial" pitchFamily="34" charset="-120"/>
              </a:rPr>
              <a:t>159.192</a:t>
            </a:r>
            <a:endParaRPr lang="en-US" sz="1700" dirty="0"/>
          </a:p>
        </p:txBody>
      </p:sp>
      <p:sp>
        <p:nvSpPr>
          <p:cNvPr id="13" name="Shape 11"/>
          <p:cNvSpPr/>
          <p:nvPr/>
        </p:nvSpPr>
        <p:spPr>
          <a:xfrm>
            <a:off x="4281488" y="3270250"/>
            <a:ext cx="952500" cy="1943100"/>
          </a:xfrm>
          <a:custGeom>
            <a:avLst/>
            <a:gdLst/>
            <a:ahLst/>
            <a:cxnLst/>
            <a:rect l="l" t="t" r="r" b="b"/>
            <a:pathLst>
              <a:path w="952500" h="1943100">
                <a:moveTo>
                  <a:pt x="50800" y="0"/>
                </a:moveTo>
                <a:lnTo>
                  <a:pt x="901700" y="0"/>
                </a:lnTo>
                <a:arcTo wR="50800" hR="50800" stAng="16200000" swAng="5400000"/>
                <a:lnTo>
                  <a:pt x="952500" y="1943100"/>
                </a:lnTo>
                <a:lnTo>
                  <a:pt x="0" y="1943100"/>
                </a:lnTo>
                <a:lnTo>
                  <a:pt x="0" y="50800"/>
                </a:lnTo>
                <a:arcTo wR="50800" hR="50800" stAng="10800000" swAng="5400000"/>
                <a:close/>
              </a:path>
            </a:pathLst>
          </a:custGeom>
          <a:solidFill>
            <a:srgbClr val="176B7B"/>
          </a:solidFill>
          <a:ln/>
        </p:spPr>
        <p:txBody>
          <a:bodyPr/>
          <a:lstStyle/>
          <a:p>
            <a:endParaRPr lang="es-CO"/>
          </a:p>
        </p:txBody>
      </p:sp>
      <p:sp>
        <p:nvSpPr>
          <p:cNvPr id="14" name="Text 12"/>
          <p:cNvSpPr/>
          <p:nvPr/>
        </p:nvSpPr>
        <p:spPr>
          <a:xfrm>
            <a:off x="4051300" y="5276850"/>
            <a:ext cx="1412875" cy="406400"/>
          </a:xfrm>
          <a:prstGeom prst="rect">
            <a:avLst/>
          </a:prstGeom>
          <a:noFill/>
          <a:ln/>
        </p:spPr>
        <p:txBody>
          <a:bodyPr wrap="square" lIns="0" tIns="0" rIns="0" bIns="0" rtlCol="0" anchor="t">
            <a:normAutofit/>
          </a:bodyPr>
          <a:lstStyle/>
          <a:p>
            <a:pPr marL="0" indent="0" algn="ctr">
              <a:lnSpc>
                <a:spcPts val="1500"/>
              </a:lnSpc>
              <a:buNone/>
            </a:pPr>
            <a:r>
              <a:rPr lang="en-US" sz="1200" dirty="0">
                <a:solidFill>
                  <a:srgbClr val="55606B"/>
                </a:solidFill>
                <a:latin typeface="Arial" pitchFamily="34" charset="0"/>
                <a:ea typeface="Arial" pitchFamily="34" charset="-122"/>
                <a:cs typeface="Arial" pitchFamily="34" charset="-120"/>
              </a:rPr>
              <a:t>Boosting 400k</a:t>
            </a:r>
            <a:endParaRPr lang="en-US" sz="1200" dirty="0"/>
          </a:p>
        </p:txBody>
      </p:sp>
      <p:sp>
        <p:nvSpPr>
          <p:cNvPr id="15" name="Text 13"/>
          <p:cNvSpPr/>
          <p:nvPr/>
        </p:nvSpPr>
        <p:spPr>
          <a:xfrm>
            <a:off x="5829340" y="2438400"/>
            <a:ext cx="936546" cy="323850"/>
          </a:xfrm>
          <a:prstGeom prst="rect">
            <a:avLst/>
          </a:prstGeom>
          <a:noFill/>
          <a:ln/>
        </p:spPr>
        <p:txBody>
          <a:bodyPr wrap="square" lIns="0" tIns="0" rIns="0" bIns="0" rtlCol="0" anchor="t">
            <a:normAutofit/>
          </a:bodyPr>
          <a:lstStyle/>
          <a:p>
            <a:pPr marL="0" indent="0" algn="ctr">
              <a:lnSpc>
                <a:spcPts val="2380"/>
              </a:lnSpc>
              <a:buNone/>
            </a:pPr>
            <a:r>
              <a:rPr lang="en-US" sz="1700" b="1" dirty="0">
                <a:solidFill>
                  <a:srgbClr val="8A5A0A"/>
                </a:solidFill>
                <a:latin typeface="Arial" pitchFamily="34" charset="0"/>
                <a:ea typeface="Arial" pitchFamily="34" charset="-122"/>
                <a:cs typeface="Arial" pitchFamily="34" charset="-120"/>
              </a:rPr>
              <a:t>163.780</a:t>
            </a:r>
            <a:endParaRPr lang="en-US" sz="1700" dirty="0"/>
          </a:p>
        </p:txBody>
      </p:sp>
      <p:sp>
        <p:nvSpPr>
          <p:cNvPr id="16" name="Shape 14"/>
          <p:cNvSpPr/>
          <p:nvPr/>
        </p:nvSpPr>
        <p:spPr>
          <a:xfrm>
            <a:off x="5821363" y="2800350"/>
            <a:ext cx="952500" cy="2413000"/>
          </a:xfrm>
          <a:custGeom>
            <a:avLst/>
            <a:gdLst/>
            <a:ahLst/>
            <a:cxnLst/>
            <a:rect l="l" t="t" r="r" b="b"/>
            <a:pathLst>
              <a:path w="952500" h="2413000">
                <a:moveTo>
                  <a:pt x="50800" y="0"/>
                </a:moveTo>
                <a:lnTo>
                  <a:pt x="901700" y="0"/>
                </a:lnTo>
                <a:arcTo wR="50800" hR="50800" stAng="16200000" swAng="5400000"/>
                <a:lnTo>
                  <a:pt x="952500" y="2413000"/>
                </a:lnTo>
                <a:lnTo>
                  <a:pt x="0" y="2413000"/>
                </a:lnTo>
                <a:lnTo>
                  <a:pt x="0" y="50800"/>
                </a:lnTo>
                <a:arcTo wR="50800" hR="50800" stAng="10800000" swAng="5400000"/>
                <a:close/>
              </a:path>
            </a:pathLst>
          </a:custGeom>
          <a:solidFill>
            <a:srgbClr val="E9A23B"/>
          </a:solidFill>
          <a:ln/>
        </p:spPr>
        <p:txBody>
          <a:bodyPr/>
          <a:lstStyle/>
          <a:p>
            <a:endParaRPr lang="es-CO"/>
          </a:p>
        </p:txBody>
      </p:sp>
      <p:sp>
        <p:nvSpPr>
          <p:cNvPr id="17" name="Text 15"/>
          <p:cNvSpPr/>
          <p:nvPr/>
        </p:nvSpPr>
        <p:spPr>
          <a:xfrm>
            <a:off x="5591175" y="5276850"/>
            <a:ext cx="1412875" cy="406400"/>
          </a:xfrm>
          <a:prstGeom prst="rect">
            <a:avLst/>
          </a:prstGeom>
          <a:noFill/>
          <a:ln/>
        </p:spPr>
        <p:txBody>
          <a:bodyPr wrap="square" lIns="0" tIns="0" rIns="0" bIns="0" rtlCol="0" anchor="t">
            <a:normAutofit/>
          </a:bodyPr>
          <a:lstStyle/>
          <a:p>
            <a:pPr marL="0" indent="0" algn="ctr">
              <a:lnSpc>
                <a:spcPts val="1500"/>
              </a:lnSpc>
              <a:buNone/>
            </a:pPr>
            <a:r>
              <a:rPr lang="en-US" sz="1200" b="1" dirty="0">
                <a:solidFill>
                  <a:srgbClr val="16222F"/>
                </a:solidFill>
                <a:latin typeface="Arial" pitchFamily="34" charset="0"/>
                <a:ea typeface="Arial" pitchFamily="34" charset="-122"/>
                <a:cs typeface="Arial" pitchFamily="34" charset="-120"/>
              </a:rPr>
              <a:t>Gradient boosting (final)</a:t>
            </a:r>
            <a:endParaRPr lang="en-US" sz="1200" dirty="0"/>
          </a:p>
        </p:txBody>
      </p:sp>
      <p:sp>
        <p:nvSpPr>
          <p:cNvPr id="18" name="Shape 16"/>
          <p:cNvSpPr/>
          <p:nvPr/>
        </p:nvSpPr>
        <p:spPr>
          <a:xfrm>
            <a:off x="7518400" y="1943795"/>
            <a:ext cx="3860800" cy="1206302"/>
          </a:xfrm>
          <a:prstGeom prst="roundRect">
            <a:avLst>
              <a:gd name="adj" fmla="val 8422"/>
            </a:avLst>
          </a:prstGeom>
          <a:solidFill>
            <a:srgbClr val="13243B"/>
          </a:solidFill>
          <a:ln/>
        </p:spPr>
        <p:txBody>
          <a:bodyPr/>
          <a:lstStyle/>
          <a:p>
            <a:endParaRPr lang="es-CO"/>
          </a:p>
        </p:txBody>
      </p:sp>
      <p:sp>
        <p:nvSpPr>
          <p:cNvPr id="19" name="Text 17"/>
          <p:cNvSpPr/>
          <p:nvPr/>
        </p:nvSpPr>
        <p:spPr>
          <a:xfrm>
            <a:off x="7696200" y="2096195"/>
            <a:ext cx="3610356" cy="46980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E9A23B"/>
                </a:solidFill>
                <a:latin typeface="Arial" pitchFamily="34" charset="0"/>
                <a:ea typeface="Arial" pitchFamily="34" charset="-122"/>
                <a:cs typeface="Arial" pitchFamily="34" charset="-120"/>
              </a:rPr>
              <a:t>41,52 %</a:t>
            </a:r>
            <a:endParaRPr lang="en-US" sz="3200" dirty="0"/>
          </a:p>
        </p:txBody>
      </p:sp>
      <p:sp>
        <p:nvSpPr>
          <p:cNvPr id="20" name="Text 18"/>
          <p:cNvSpPr/>
          <p:nvPr/>
        </p:nvSpPr>
        <p:spPr>
          <a:xfrm>
            <a:off x="7696200" y="2578695"/>
            <a:ext cx="3610356" cy="44440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B8C4D2"/>
                </a:solidFill>
                <a:latin typeface="Arial" pitchFamily="34" charset="0"/>
                <a:ea typeface="Arial" pitchFamily="34" charset="-122"/>
                <a:cs typeface="Arial" pitchFamily="34" charset="-120"/>
              </a:rPr>
              <a:t>de los vuelos marcados se retrasó, frente a 21,65 % al azar</a:t>
            </a:r>
            <a:endParaRPr lang="en-US" sz="1300" dirty="0"/>
          </a:p>
        </p:txBody>
      </p:sp>
      <p:sp>
        <p:nvSpPr>
          <p:cNvPr id="21" name="Shape 19"/>
          <p:cNvSpPr/>
          <p:nvPr/>
        </p:nvSpPr>
        <p:spPr>
          <a:xfrm>
            <a:off x="7521575" y="3280271"/>
            <a:ext cx="3854450" cy="1212652"/>
          </a:xfrm>
          <a:prstGeom prst="roundRect">
            <a:avLst>
              <a:gd name="adj" fmla="val 8117"/>
            </a:avLst>
          </a:prstGeom>
          <a:solidFill>
            <a:srgbClr val="FBFAF6"/>
          </a:solidFill>
          <a:ln w="6350">
            <a:solidFill>
              <a:srgbClr val="DAD6C8"/>
            </a:solidFill>
            <a:prstDash val="solid"/>
          </a:ln>
        </p:spPr>
        <p:txBody>
          <a:bodyPr/>
          <a:lstStyle/>
          <a:p>
            <a:endParaRPr lang="es-CO"/>
          </a:p>
        </p:txBody>
      </p:sp>
      <p:sp>
        <p:nvSpPr>
          <p:cNvPr id="22" name="Text 20"/>
          <p:cNvSpPr/>
          <p:nvPr/>
        </p:nvSpPr>
        <p:spPr>
          <a:xfrm>
            <a:off x="7702550" y="3435846"/>
            <a:ext cx="3597275" cy="46980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76B7B"/>
                </a:solidFill>
                <a:latin typeface="Arial" pitchFamily="34" charset="0"/>
                <a:ea typeface="Arial" pitchFamily="34" charset="-122"/>
                <a:cs typeface="Arial" pitchFamily="34" charset="-120"/>
              </a:rPr>
              <a:t>1,92×</a:t>
            </a:r>
            <a:endParaRPr lang="en-US" sz="3200" dirty="0"/>
          </a:p>
        </p:txBody>
      </p:sp>
      <p:sp>
        <p:nvSpPr>
          <p:cNvPr id="23" name="Text 21"/>
          <p:cNvSpPr/>
          <p:nvPr/>
        </p:nvSpPr>
        <p:spPr>
          <a:xfrm>
            <a:off x="7702550" y="3918347"/>
            <a:ext cx="3597275" cy="44440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lift: el grupo marcado concentra casi el doble de retrasos</a:t>
            </a:r>
            <a:endParaRPr lang="en-US" sz="1300" dirty="0"/>
          </a:p>
        </p:txBody>
      </p:sp>
      <p:sp>
        <p:nvSpPr>
          <p:cNvPr id="24" name="Shape 22"/>
          <p:cNvSpPr/>
          <p:nvPr/>
        </p:nvSpPr>
        <p:spPr>
          <a:xfrm>
            <a:off x="7521575" y="4626273"/>
            <a:ext cx="3854450" cy="1212652"/>
          </a:xfrm>
          <a:prstGeom prst="roundRect">
            <a:avLst>
              <a:gd name="adj" fmla="val 8117"/>
            </a:avLst>
          </a:prstGeom>
          <a:solidFill>
            <a:srgbClr val="FBFAF6"/>
          </a:solidFill>
          <a:ln w="6350">
            <a:solidFill>
              <a:srgbClr val="DAD6C8"/>
            </a:solidFill>
            <a:prstDash val="solid"/>
          </a:ln>
        </p:spPr>
        <p:txBody>
          <a:bodyPr/>
          <a:lstStyle/>
          <a:p>
            <a:endParaRPr lang="es-CO"/>
          </a:p>
        </p:txBody>
      </p:sp>
      <p:sp>
        <p:nvSpPr>
          <p:cNvPr id="25" name="Text 23"/>
          <p:cNvSpPr/>
          <p:nvPr/>
        </p:nvSpPr>
        <p:spPr>
          <a:xfrm>
            <a:off x="7702550" y="4781848"/>
            <a:ext cx="3597275" cy="46980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76B7B"/>
                </a:solidFill>
                <a:latin typeface="Arial" pitchFamily="34" charset="0"/>
                <a:ea typeface="Arial" pitchFamily="34" charset="-122"/>
                <a:cs typeface="Arial" pitchFamily="34" charset="-120"/>
              </a:rPr>
              <a:t>+2.600</a:t>
            </a:r>
            <a:endParaRPr lang="en-US" sz="3200" dirty="0"/>
          </a:p>
        </p:txBody>
      </p:sp>
      <p:sp>
        <p:nvSpPr>
          <p:cNvPr id="26" name="Text 24"/>
          <p:cNvSpPr/>
          <p:nvPr/>
        </p:nvSpPr>
        <p:spPr>
          <a:xfrm>
            <a:off x="7702550" y="5264348"/>
            <a:ext cx="3597275" cy="44440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retrasos adicionales de Boosting 400k frente a Logística 400k</a:t>
            </a:r>
            <a:endParaRPr lang="en-US" sz="1300" dirty="0"/>
          </a:p>
        </p:txBody>
      </p:sp>
      <p:sp>
        <p:nvSpPr>
          <p:cNvPr id="27" name="Text 25"/>
          <p:cNvSpPr/>
          <p:nvPr/>
        </p:nvSpPr>
        <p:spPr>
          <a:xfrm>
            <a:off x="812800" y="6242050"/>
            <a:ext cx="98107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El 10 % es un escenario retrospectivo, no una cuota operativa. La comparación 400k usa misma muestra y periodos.</a:t>
            </a:r>
            <a:endParaRPr lang="en-US" sz="1200" dirty="0"/>
          </a:p>
        </p:txBody>
      </p:sp>
      <p:sp>
        <p:nvSpPr>
          <p:cNvPr id="28" name="Text 26"/>
          <p:cNvSpPr/>
          <p:nvPr/>
        </p:nvSpPr>
        <p:spPr>
          <a:xfrm>
            <a:off x="10693400" y="6242050"/>
            <a:ext cx="685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243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E9A23B"/>
                </a:solidFill>
                <a:latin typeface="Arial" pitchFamily="34" charset="0"/>
                <a:ea typeface="Arial" pitchFamily="34" charset="-122"/>
                <a:cs typeface="Arial" pitchFamily="34" charset="-120"/>
              </a:rPr>
              <a:t>6 · LO QUE NO RESUELVE</a:t>
            </a:r>
            <a:endParaRPr lang="en-US" sz="1400" dirty="0"/>
          </a:p>
        </p:txBody>
      </p:sp>
      <p:sp>
        <p:nvSpPr>
          <p:cNvPr id="3" name="Text 1"/>
          <p:cNvSpPr>
            <a:spLocks noGrp="1"/>
          </p:cNvSpPr>
          <p:nvPr>
            <p:ph type="title"/>
          </p:nvPr>
        </p:nvSpPr>
        <p:spPr>
          <a:xfrm>
            <a:off x="812800" y="131445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5F3EC"/>
                </a:solidFill>
                <a:latin typeface="Arial" pitchFamily="34" charset="0"/>
                <a:ea typeface="Arial" pitchFamily="34" charset="-122"/>
                <a:cs typeface="Arial" pitchFamily="34" charset="-120"/>
              </a:rPr>
              <a:t>Una ayuda para ordenar, no una bola de cristal</a:t>
            </a:r>
            <a:endParaRPr lang="en-US" sz="3000" dirty="0"/>
          </a:p>
        </p:txBody>
      </p:sp>
      <p:sp>
        <p:nvSpPr>
          <p:cNvPr id="4" name="Shape 2"/>
          <p:cNvSpPr/>
          <p:nvPr/>
        </p:nvSpPr>
        <p:spPr>
          <a:xfrm>
            <a:off x="812800" y="1987550"/>
            <a:ext cx="3232150" cy="1822450"/>
          </a:xfrm>
          <a:prstGeom prst="roundRect">
            <a:avLst>
              <a:gd name="adj" fmla="val 5575"/>
            </a:avLst>
          </a:prstGeom>
          <a:solidFill>
            <a:srgbClr val="1D3452"/>
          </a:solidFill>
          <a:ln/>
        </p:spPr>
        <p:txBody>
          <a:bodyPr/>
          <a:lstStyle/>
          <a:p>
            <a:endParaRPr lang="es-CO"/>
          </a:p>
        </p:txBody>
      </p:sp>
      <p:sp>
        <p:nvSpPr>
          <p:cNvPr id="5" name="Text 3"/>
          <p:cNvSpPr/>
          <p:nvPr/>
        </p:nvSpPr>
        <p:spPr>
          <a:xfrm>
            <a:off x="1016000" y="2190750"/>
            <a:ext cx="2910523"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E9A23B"/>
                </a:solidFill>
                <a:latin typeface="Arial" pitchFamily="34" charset="0"/>
                <a:ea typeface="Arial" pitchFamily="34" charset="-122"/>
                <a:cs typeface="Arial" pitchFamily="34" charset="-120"/>
              </a:rPr>
              <a:t>80,8 %</a:t>
            </a:r>
            <a:endParaRPr lang="en-US" sz="4800" dirty="0"/>
          </a:p>
        </p:txBody>
      </p:sp>
      <p:sp>
        <p:nvSpPr>
          <p:cNvPr id="6" name="Text 4"/>
          <p:cNvSpPr/>
          <p:nvPr/>
        </p:nvSpPr>
        <p:spPr>
          <a:xfrm>
            <a:off x="1016000" y="2876550"/>
            <a:ext cx="2910523" cy="4826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5F3EC"/>
                </a:solidFill>
                <a:latin typeface="Arial" pitchFamily="34" charset="0"/>
                <a:ea typeface="Arial" pitchFamily="34" charset="-122"/>
                <a:cs typeface="Arial" pitchFamily="34" charset="-120"/>
              </a:rPr>
              <a:t>En el escenario retrospectivo del 10 %</a:t>
            </a:r>
            <a:endParaRPr lang="en-US" sz="1400" dirty="0"/>
          </a:p>
        </p:txBody>
      </p:sp>
      <p:sp>
        <p:nvSpPr>
          <p:cNvPr id="7" name="Text 5"/>
          <p:cNvSpPr/>
          <p:nvPr/>
        </p:nvSpPr>
        <p:spPr>
          <a:xfrm>
            <a:off x="1016000" y="3409950"/>
            <a:ext cx="2910523" cy="22225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8C4D2"/>
                </a:solidFill>
                <a:latin typeface="Arial" pitchFamily="34" charset="0"/>
                <a:ea typeface="Arial" pitchFamily="34" charset="-122"/>
                <a:cs typeface="Arial" pitchFamily="34" charset="-120"/>
              </a:rPr>
              <a:t>Recall de 19,18 %</a:t>
            </a:r>
            <a:endParaRPr lang="en-US" sz="1200" dirty="0"/>
          </a:p>
        </p:txBody>
      </p:sp>
      <p:sp>
        <p:nvSpPr>
          <p:cNvPr id="8" name="Shape 6"/>
          <p:cNvSpPr/>
          <p:nvPr/>
        </p:nvSpPr>
        <p:spPr>
          <a:xfrm>
            <a:off x="4197350" y="1987550"/>
            <a:ext cx="3232150" cy="1822450"/>
          </a:xfrm>
          <a:prstGeom prst="roundRect">
            <a:avLst>
              <a:gd name="adj" fmla="val 5575"/>
            </a:avLst>
          </a:prstGeom>
          <a:solidFill>
            <a:srgbClr val="1D3452"/>
          </a:solidFill>
          <a:ln/>
        </p:spPr>
        <p:txBody>
          <a:bodyPr/>
          <a:lstStyle/>
          <a:p>
            <a:endParaRPr lang="es-CO"/>
          </a:p>
        </p:txBody>
      </p:sp>
      <p:sp>
        <p:nvSpPr>
          <p:cNvPr id="9" name="Text 7"/>
          <p:cNvSpPr/>
          <p:nvPr/>
        </p:nvSpPr>
        <p:spPr>
          <a:xfrm>
            <a:off x="4400550" y="2190750"/>
            <a:ext cx="2910523"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E9A23B"/>
                </a:solidFill>
                <a:latin typeface="Arial" pitchFamily="34" charset="0"/>
                <a:ea typeface="Arial" pitchFamily="34" charset="-122"/>
                <a:cs typeface="Arial" pitchFamily="34" charset="-120"/>
              </a:rPr>
              <a:t>58,5 %</a:t>
            </a:r>
            <a:endParaRPr lang="en-US" sz="4800" dirty="0"/>
          </a:p>
        </p:txBody>
      </p:sp>
      <p:sp>
        <p:nvSpPr>
          <p:cNvPr id="10" name="Text 8"/>
          <p:cNvSpPr/>
          <p:nvPr/>
        </p:nvSpPr>
        <p:spPr>
          <a:xfrm>
            <a:off x="4400550" y="2876550"/>
            <a:ext cx="2910523" cy="4826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5F3EC"/>
                </a:solidFill>
                <a:latin typeface="Arial" pitchFamily="34" charset="0"/>
                <a:ea typeface="Arial" pitchFamily="34" charset="-122"/>
                <a:cs typeface="Arial" pitchFamily="34" charset="-120"/>
              </a:rPr>
              <a:t>de los vuelos marcados no se retrasa</a:t>
            </a:r>
            <a:endParaRPr lang="en-US" sz="1400" dirty="0"/>
          </a:p>
        </p:txBody>
      </p:sp>
      <p:sp>
        <p:nvSpPr>
          <p:cNvPr id="11" name="Text 9"/>
          <p:cNvSpPr/>
          <p:nvPr/>
        </p:nvSpPr>
        <p:spPr>
          <a:xfrm>
            <a:off x="4400550" y="3409950"/>
            <a:ext cx="2910523" cy="22225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8C4D2"/>
                </a:solidFill>
                <a:latin typeface="Arial" pitchFamily="34" charset="0"/>
                <a:ea typeface="Arial" pitchFamily="34" charset="-122"/>
                <a:cs typeface="Arial" pitchFamily="34" charset="-120"/>
              </a:rPr>
              <a:t>Precisión de 41,52 %</a:t>
            </a:r>
            <a:endParaRPr lang="en-US" sz="1200" dirty="0"/>
          </a:p>
        </p:txBody>
      </p:sp>
      <p:sp>
        <p:nvSpPr>
          <p:cNvPr id="12" name="Shape 10"/>
          <p:cNvSpPr/>
          <p:nvPr/>
        </p:nvSpPr>
        <p:spPr>
          <a:xfrm>
            <a:off x="7581900" y="1987550"/>
            <a:ext cx="3797300" cy="1822450"/>
          </a:xfrm>
          <a:prstGeom prst="roundRect">
            <a:avLst>
              <a:gd name="adj" fmla="val 5575"/>
            </a:avLst>
          </a:prstGeom>
          <a:solidFill>
            <a:srgbClr val="1D3452"/>
          </a:solidFill>
          <a:ln/>
        </p:spPr>
        <p:txBody>
          <a:bodyPr/>
          <a:lstStyle/>
          <a:p>
            <a:endParaRPr lang="es-CO"/>
          </a:p>
        </p:txBody>
      </p:sp>
      <p:sp>
        <p:nvSpPr>
          <p:cNvPr id="13" name="Text 11"/>
          <p:cNvSpPr/>
          <p:nvPr/>
        </p:nvSpPr>
        <p:spPr>
          <a:xfrm>
            <a:off x="7785100" y="2190750"/>
            <a:ext cx="3492627" cy="2540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5F3EC"/>
                </a:solidFill>
                <a:latin typeface="Arial" pitchFamily="34" charset="0"/>
                <a:ea typeface="Arial" pitchFamily="34" charset="-122"/>
                <a:cs typeface="Arial" pitchFamily="34" charset="-120"/>
              </a:rPr>
              <a:t>El modelo subestima la tasa global</a:t>
            </a:r>
            <a:endParaRPr lang="en-US" sz="1400" dirty="0"/>
          </a:p>
        </p:txBody>
      </p:sp>
      <p:sp>
        <p:nvSpPr>
          <p:cNvPr id="14" name="Text 12"/>
          <p:cNvSpPr/>
          <p:nvPr/>
        </p:nvSpPr>
        <p:spPr>
          <a:xfrm>
            <a:off x="7785100" y="2520950"/>
            <a:ext cx="349262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D2"/>
                </a:solidFill>
                <a:latin typeface="Arial" pitchFamily="34" charset="0"/>
                <a:ea typeface="Arial" pitchFamily="34" charset="-122"/>
                <a:cs typeface="Arial" pitchFamily="34" charset="-120"/>
              </a:rPr>
              <a:t>Riesgo medio estimado · 16,79 %</a:t>
            </a:r>
            <a:endParaRPr lang="en-US" sz="1200" dirty="0"/>
          </a:p>
        </p:txBody>
      </p:sp>
      <p:sp>
        <p:nvSpPr>
          <p:cNvPr id="15" name="Shape 13"/>
          <p:cNvSpPr/>
          <p:nvPr/>
        </p:nvSpPr>
        <p:spPr>
          <a:xfrm>
            <a:off x="7785100" y="2768600"/>
            <a:ext cx="1968500" cy="228600"/>
          </a:xfrm>
          <a:prstGeom prst="roundRect">
            <a:avLst>
              <a:gd name="adj" fmla="val 16667"/>
            </a:avLst>
          </a:prstGeom>
          <a:solidFill>
            <a:srgbClr val="8FA3B8"/>
          </a:solidFill>
          <a:ln/>
        </p:spPr>
        <p:txBody>
          <a:bodyPr/>
          <a:lstStyle/>
          <a:p>
            <a:endParaRPr lang="es-CO"/>
          </a:p>
        </p:txBody>
      </p:sp>
      <p:sp>
        <p:nvSpPr>
          <p:cNvPr id="16" name="Text 14"/>
          <p:cNvSpPr/>
          <p:nvPr/>
        </p:nvSpPr>
        <p:spPr>
          <a:xfrm>
            <a:off x="7785100" y="3098800"/>
            <a:ext cx="349262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D2"/>
                </a:solidFill>
                <a:latin typeface="Arial" pitchFamily="34" charset="0"/>
                <a:ea typeface="Arial" pitchFamily="34" charset="-122"/>
                <a:cs typeface="Arial" pitchFamily="34" charset="-120"/>
              </a:rPr>
              <a:t>Tasa observada · 21,65 %</a:t>
            </a:r>
            <a:endParaRPr lang="en-US" sz="1200" dirty="0"/>
          </a:p>
        </p:txBody>
      </p:sp>
      <p:sp>
        <p:nvSpPr>
          <p:cNvPr id="17" name="Shape 15"/>
          <p:cNvSpPr/>
          <p:nvPr/>
        </p:nvSpPr>
        <p:spPr>
          <a:xfrm>
            <a:off x="7785100" y="3346450"/>
            <a:ext cx="2540000" cy="228600"/>
          </a:xfrm>
          <a:prstGeom prst="roundRect">
            <a:avLst>
              <a:gd name="adj" fmla="val 16667"/>
            </a:avLst>
          </a:prstGeom>
          <a:solidFill>
            <a:srgbClr val="E9A23B"/>
          </a:solidFill>
          <a:ln/>
        </p:spPr>
        <p:txBody>
          <a:bodyPr/>
          <a:lstStyle/>
          <a:p>
            <a:endParaRPr lang="es-CO"/>
          </a:p>
        </p:txBody>
      </p:sp>
      <p:sp>
        <p:nvSpPr>
          <p:cNvPr id="18" name="Text 16"/>
          <p:cNvSpPr/>
          <p:nvPr/>
        </p:nvSpPr>
        <p:spPr>
          <a:xfrm>
            <a:off x="812800" y="4064000"/>
            <a:ext cx="10883392" cy="27940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5F3EC"/>
                </a:solidFill>
                <a:latin typeface="Arial" pitchFamily="34" charset="0"/>
                <a:ea typeface="Arial" pitchFamily="34" charset="-122"/>
                <a:cs typeface="Arial" pitchFamily="34" charset="-120"/>
              </a:rPr>
              <a:t>· El escenario comparativo del 10 % capturó 19,18 % de retrasos; el sistema propuesto puntuaría todos los vuelos.</a:t>
            </a:r>
            <a:endParaRPr lang="en-US" sz="1500" dirty="0"/>
          </a:p>
        </p:txBody>
      </p:sp>
      <p:sp>
        <p:nvSpPr>
          <p:cNvPr id="19" name="Text 17"/>
          <p:cNvSpPr/>
          <p:nvPr/>
        </p:nvSpPr>
        <p:spPr>
          <a:xfrm>
            <a:off x="812800" y="4406900"/>
            <a:ext cx="10883392" cy="27940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5F3EC"/>
                </a:solidFill>
                <a:latin typeface="Arial" pitchFamily="34" charset="0"/>
                <a:ea typeface="Arial" pitchFamily="34" charset="-122"/>
                <a:cs typeface="Arial" pitchFamily="34" charset="-120"/>
              </a:rPr>
              <a:t>· 2022 ya se consultó durante el desarrollo: no es una prueba final independiente.</a:t>
            </a:r>
            <a:endParaRPr lang="en-US" sz="1500" dirty="0"/>
          </a:p>
        </p:txBody>
      </p:sp>
      <p:sp>
        <p:nvSpPr>
          <p:cNvPr id="20" name="Text 18"/>
          <p:cNvSpPr/>
          <p:nvPr/>
        </p:nvSpPr>
        <p:spPr>
          <a:xfrm>
            <a:off x="812800" y="4749800"/>
            <a:ext cx="10883392" cy="27940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5F3EC"/>
                </a:solidFill>
                <a:latin typeface="Arial" pitchFamily="34" charset="0"/>
                <a:ea typeface="Arial" pitchFamily="34" charset="-122"/>
                <a:cs typeface="Arial" pitchFamily="34" charset="-120"/>
              </a:rPr>
              <a:t>· No demostramos que actuar sobre una alerta evite el retraso ni que genere ahorro.</a:t>
            </a:r>
            <a:endParaRPr lang="en-US" sz="1500" dirty="0"/>
          </a:p>
        </p:txBody>
      </p:sp>
      <p:sp>
        <p:nvSpPr>
          <p:cNvPr id="21" name="Text 19"/>
          <p:cNvSpPr/>
          <p:nvPr/>
        </p:nvSpPr>
        <p:spPr>
          <a:xfrm>
            <a:off x="812800" y="6242050"/>
            <a:ext cx="98107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D2"/>
                </a:solidFill>
                <a:latin typeface="Arial" pitchFamily="34" charset="0"/>
                <a:ea typeface="Arial" pitchFamily="34" charset="-122"/>
                <a:cs typeface="Arial" pitchFamily="34" charset="-120"/>
              </a:rPr>
              <a:t>Datos de EE. UU.; propuesta para Colombia · evaluación adicional enero–julio 2022</a:t>
            </a:r>
            <a:endParaRPr lang="en-US" sz="1200" dirty="0"/>
          </a:p>
        </p:txBody>
      </p:sp>
      <p:sp>
        <p:nvSpPr>
          <p:cNvPr id="22" name="Text 20"/>
          <p:cNvSpPr/>
          <p:nvPr/>
        </p:nvSpPr>
        <p:spPr>
          <a:xfrm>
            <a:off x="10693400" y="6242050"/>
            <a:ext cx="685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8C4D2"/>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ns2="http://schemas.openxmlformats.org/officeDocument/2006/relationships" xmlns:p="http://schemas.openxmlformats.org/presentationml/2006/main">
  <p:cSld name="Slide 10">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76B7B"/>
                </a:solidFill>
                <a:latin typeface="Arial" pitchFamily="34" charset="0"/>
                <a:ea typeface="Arial" pitchFamily="34" charset="-122"/>
                <a:cs typeface="Arial" pitchFamily="34" charset="-120"/>
              </a:rPr>
              <a:t>7 · QUE FUNCIONE SIN NOSOTROS</a:t>
            </a:r>
            <a:endParaRPr lang="en-US" sz="1400" dirty="0"/>
          </a:p>
        </p:txBody>
      </p:sp>
      <p:sp>
        <p:nvSpPr>
          <p:cNvPr id="3" name="Text 1"/>
          <p:cNvSpPr>
            <a:spLocks noGrp="1"/>
          </p:cNvSpPr>
          <p:nvPr>
            <p:ph type="title"/>
          </p:nvPr>
        </p:nvSpPr>
        <p:spPr>
          <a:xfrm>
            <a:off x="812800" y="131445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22F"/>
                </a:solidFill>
                <a:latin typeface="Arial" pitchFamily="34" charset="0"/>
                <a:ea typeface="Arial" pitchFamily="34" charset="-122"/>
                <a:cs typeface="Arial" pitchFamily="34" charset="-120"/>
              </a:rPr>
              <a:t>Un análisis que se repite con cada archivo nuevo</a:t>
            </a:r>
            <a:endParaRPr lang="en-US" sz="3000" dirty="0"/>
          </a:p>
        </p:txBody>
      </p:sp>
      <p:sp>
        <p:nvSpPr>
          <p:cNvPr id="4" name="Shape 2"/>
          <p:cNvSpPr/>
          <p:nvPr/>
        </p:nvSpPr>
        <p:spPr>
          <a:xfrm>
            <a:off x="815975" y="1990725"/>
            <a:ext cx="4921250" cy="596900"/>
          </a:xfrm>
          <a:prstGeom prst="roundRect">
            <a:avLst>
              <a:gd name="adj" fmla="val 16489"/>
            </a:avLst>
          </a:prstGeom>
          <a:solidFill>
            <a:srgbClr val="FBFAF6"/>
          </a:solidFill>
          <a:ln w="6350">
            <a:solidFill>
              <a:srgbClr val="DAD6C8"/>
            </a:solidFill>
            <a:prstDash val="solid"/>
          </a:ln>
        </p:spPr>
        <p:txBody>
          <a:bodyPr/>
          <a:lstStyle/>
          <a:p>
            <a:endParaRPr lang="es-CO"/>
          </a:p>
        </p:txBody>
      </p:sp>
      <p:sp>
        <p:nvSpPr>
          <p:cNvPr id="5" name="Text 3"/>
          <p:cNvSpPr/>
          <p:nvPr/>
        </p:nvSpPr>
        <p:spPr>
          <a:xfrm>
            <a:off x="971550" y="2095500"/>
            <a:ext cx="355600"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76B7B"/>
                </a:solidFill>
                <a:latin typeface="Arial" pitchFamily="34" charset="0"/>
                <a:ea typeface="Arial" pitchFamily="34" charset="-122"/>
                <a:cs typeface="Arial" pitchFamily="34" charset="-120"/>
              </a:rPr>
              <a:t>1</a:t>
            </a:r>
            <a:endParaRPr lang="en-US" sz="2200" dirty="0"/>
          </a:p>
        </p:txBody>
      </p:sp>
      <p:sp>
        <p:nvSpPr>
          <p:cNvPr id="6" name="Text 4"/>
          <p:cNvSpPr/>
          <p:nvPr/>
        </p:nvSpPr>
        <p:spPr>
          <a:xfrm>
            <a:off x="1403350" y="2178050"/>
            <a:ext cx="4330700"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222F"/>
                </a:solidFill>
                <a:latin typeface="Arial" pitchFamily="34" charset="0"/>
                <a:ea typeface="Arial" pitchFamily="34" charset="-122"/>
                <a:cs typeface="Arial" pitchFamily="34" charset="-120"/>
              </a:rPr>
              <a:t>Validar la entrada:</a:t>
            </a:r>
            <a:r>
              <a:rPr lang="en-US" sz="1400" dirty="0">
                <a:solidFill>
                  <a:srgbClr val="16222F"/>
                </a:solidFill>
                <a:latin typeface="Arial" pitchFamily="34" charset="0"/>
                <a:ea typeface="Arial" pitchFamily="34" charset="-122"/>
                <a:cs typeface="Arial" pitchFamily="34" charset="-120"/>
              </a:rPr>
              <a:t> archivo, modelo y columnas</a:t>
            </a:r>
            <a:endParaRPr lang="en-US" sz="1400" dirty="0"/>
          </a:p>
        </p:txBody>
      </p:sp>
      <p:sp>
        <p:nvSpPr>
          <p:cNvPr id="7" name="Shape 5"/>
          <p:cNvSpPr/>
          <p:nvPr/>
        </p:nvSpPr>
        <p:spPr>
          <a:xfrm>
            <a:off x="815975" y="2695575"/>
            <a:ext cx="4921250" cy="596900"/>
          </a:xfrm>
          <a:prstGeom prst="roundRect">
            <a:avLst>
              <a:gd name="adj" fmla="val 16489"/>
            </a:avLst>
          </a:prstGeom>
          <a:solidFill>
            <a:srgbClr val="FBFAF6"/>
          </a:solidFill>
          <a:ln w="6350">
            <a:solidFill>
              <a:srgbClr val="DAD6C8"/>
            </a:solidFill>
            <a:prstDash val="solid"/>
          </a:ln>
        </p:spPr>
        <p:txBody>
          <a:bodyPr/>
          <a:lstStyle/>
          <a:p>
            <a:endParaRPr lang="es-CO"/>
          </a:p>
        </p:txBody>
      </p:sp>
      <p:sp>
        <p:nvSpPr>
          <p:cNvPr id="8" name="Text 6"/>
          <p:cNvSpPr/>
          <p:nvPr/>
        </p:nvSpPr>
        <p:spPr>
          <a:xfrm>
            <a:off x="971550" y="2800350"/>
            <a:ext cx="355600"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76B7B"/>
                </a:solidFill>
                <a:latin typeface="Arial" pitchFamily="34" charset="0"/>
                <a:ea typeface="Arial" pitchFamily="34" charset="-122"/>
                <a:cs typeface="Arial" pitchFamily="34" charset="-120"/>
              </a:rPr>
              <a:t>2</a:t>
            </a:r>
            <a:endParaRPr lang="en-US" sz="2200" dirty="0"/>
          </a:p>
        </p:txBody>
      </p:sp>
      <p:sp>
        <p:nvSpPr>
          <p:cNvPr id="9" name="Text 7"/>
          <p:cNvSpPr/>
          <p:nvPr/>
        </p:nvSpPr>
        <p:spPr>
          <a:xfrm>
            <a:off x="1403350" y="2882900"/>
            <a:ext cx="4330700"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222F"/>
                </a:solidFill>
                <a:latin typeface="Arial" pitchFamily="34" charset="0"/>
                <a:ea typeface="Arial" pitchFamily="34" charset="-122"/>
                <a:cs typeface="Arial" pitchFamily="34" charset="-120"/>
              </a:rPr>
              <a:t>Predecir y agregar</a:t>
            </a:r>
            <a:r>
              <a:rPr lang="en-US" sz="1400" dirty="0">
                <a:solidFill>
                  <a:srgbClr val="16222F"/>
                </a:solidFill>
                <a:latin typeface="Arial" pitchFamily="34" charset="0"/>
                <a:ea typeface="Arial" pitchFamily="34" charset="-122"/>
                <a:cs typeface="Arial" pitchFamily="34" charset="-120"/>
              </a:rPr>
              <a:t> por bloques de 32.768 vuelos</a:t>
            </a:r>
            <a:endParaRPr lang="en-US" sz="1400" dirty="0"/>
          </a:p>
        </p:txBody>
      </p:sp>
      <p:sp>
        <p:nvSpPr>
          <p:cNvPr id="10" name="Shape 8"/>
          <p:cNvSpPr/>
          <p:nvPr/>
        </p:nvSpPr>
        <p:spPr>
          <a:xfrm>
            <a:off x="815975" y="3400425"/>
            <a:ext cx="4921250" cy="596900"/>
          </a:xfrm>
          <a:prstGeom prst="roundRect">
            <a:avLst>
              <a:gd name="adj" fmla="val 16489"/>
            </a:avLst>
          </a:prstGeom>
          <a:solidFill>
            <a:srgbClr val="FBFAF6"/>
          </a:solidFill>
          <a:ln w="6350">
            <a:solidFill>
              <a:srgbClr val="DAD6C8"/>
            </a:solidFill>
            <a:prstDash val="solid"/>
          </a:ln>
        </p:spPr>
        <p:txBody>
          <a:bodyPr/>
          <a:lstStyle/>
          <a:p>
            <a:endParaRPr lang="es-CO"/>
          </a:p>
        </p:txBody>
      </p:sp>
      <p:sp>
        <p:nvSpPr>
          <p:cNvPr id="11" name="Text 9"/>
          <p:cNvSpPr/>
          <p:nvPr/>
        </p:nvSpPr>
        <p:spPr>
          <a:xfrm>
            <a:off x="971550" y="3505200"/>
            <a:ext cx="355600"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76B7B"/>
                </a:solidFill>
                <a:latin typeface="Arial" pitchFamily="34" charset="0"/>
                <a:ea typeface="Arial" pitchFamily="34" charset="-122"/>
                <a:cs typeface="Arial" pitchFamily="34" charset="-120"/>
              </a:rPr>
              <a:t>3</a:t>
            </a:r>
            <a:endParaRPr lang="en-US" sz="2200" dirty="0"/>
          </a:p>
        </p:txBody>
      </p:sp>
      <p:sp>
        <p:nvSpPr>
          <p:cNvPr id="12" name="Text 10"/>
          <p:cNvSpPr/>
          <p:nvPr/>
        </p:nvSpPr>
        <p:spPr>
          <a:xfrm>
            <a:off x="1403350" y="3587750"/>
            <a:ext cx="4208978"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222F"/>
                </a:solidFill>
                <a:latin typeface="Arial" pitchFamily="34" charset="0"/>
                <a:ea typeface="Arial" pitchFamily="34" charset="-122"/>
                <a:cs typeface="Arial" pitchFamily="34" charset="-120"/>
              </a:rPr>
              <a:t>Construir indicadores</a:t>
            </a:r>
            <a:r>
              <a:rPr lang="en-US" sz="1400" dirty="0">
                <a:solidFill>
                  <a:srgbClr val="16222F"/>
                </a:solidFill>
                <a:latin typeface="Arial" pitchFamily="34" charset="0"/>
                <a:ea typeface="Arial" pitchFamily="34" charset="-122"/>
                <a:cs typeface="Arial" pitchFamily="34" charset="-120"/>
              </a:rPr>
              <a:t> y verificar los totales</a:t>
            </a:r>
            <a:endParaRPr lang="en-US" sz="1400" dirty="0"/>
          </a:p>
        </p:txBody>
      </p:sp>
      <p:sp>
        <p:nvSpPr>
          <p:cNvPr id="13" name="Shape 11"/>
          <p:cNvSpPr/>
          <p:nvPr/>
        </p:nvSpPr>
        <p:spPr>
          <a:xfrm>
            <a:off x="815975" y="4105275"/>
            <a:ext cx="4921250" cy="596900"/>
          </a:xfrm>
          <a:prstGeom prst="roundRect">
            <a:avLst>
              <a:gd name="adj" fmla="val 16489"/>
            </a:avLst>
          </a:prstGeom>
          <a:solidFill>
            <a:srgbClr val="FBFAF6"/>
          </a:solidFill>
          <a:ln w="6350">
            <a:solidFill>
              <a:srgbClr val="DAD6C8"/>
            </a:solidFill>
            <a:prstDash val="solid"/>
          </a:ln>
        </p:spPr>
        <p:txBody>
          <a:bodyPr/>
          <a:lstStyle/>
          <a:p>
            <a:endParaRPr lang="es-CO"/>
          </a:p>
        </p:txBody>
      </p:sp>
      <p:sp>
        <p:nvSpPr>
          <p:cNvPr id="14" name="Text 12"/>
          <p:cNvSpPr/>
          <p:nvPr/>
        </p:nvSpPr>
        <p:spPr>
          <a:xfrm>
            <a:off x="971550" y="4210050"/>
            <a:ext cx="355600"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76B7B"/>
                </a:solidFill>
                <a:latin typeface="Arial" pitchFamily="34" charset="0"/>
                <a:ea typeface="Arial" pitchFamily="34" charset="-122"/>
                <a:cs typeface="Arial" pitchFamily="34" charset="-120"/>
              </a:rPr>
              <a:t>4</a:t>
            </a:r>
            <a:endParaRPr lang="en-US" sz="2200" dirty="0"/>
          </a:p>
        </p:txBody>
      </p:sp>
      <p:sp>
        <p:nvSpPr>
          <p:cNvPr id="15" name="Text 13"/>
          <p:cNvSpPr/>
          <p:nvPr/>
        </p:nvSpPr>
        <p:spPr>
          <a:xfrm>
            <a:off x="1403350" y="4292600"/>
            <a:ext cx="3948946"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222F"/>
                </a:solidFill>
                <a:latin typeface="Arial" pitchFamily="34" charset="0"/>
                <a:ea typeface="Arial" pitchFamily="34" charset="-122"/>
                <a:cs typeface="Arial" pitchFamily="34" charset="-120"/>
              </a:rPr>
              <a:t>Exportar</a:t>
            </a:r>
            <a:r>
              <a:rPr lang="en-US" sz="1400" dirty="0">
                <a:solidFill>
                  <a:srgbClr val="16222F"/>
                </a:solidFill>
                <a:latin typeface="Arial" pitchFamily="34" charset="0"/>
                <a:ea typeface="Arial" pitchFamily="34" charset="-122"/>
                <a:cs typeface="Arial" pitchFamily="34" charset="-120"/>
              </a:rPr>
              <a:t> el resumen sin crear duplicados</a:t>
            </a:r>
            <a:endParaRPr lang="en-US" sz="1400" dirty="0"/>
          </a:p>
        </p:txBody>
      </p:sp>
      <p:sp>
        <p:nvSpPr>
          <p:cNvPr id="16" name="Shape 14"/>
          <p:cNvSpPr/>
          <p:nvPr/>
        </p:nvSpPr>
        <p:spPr>
          <a:xfrm>
            <a:off x="812800" y="4806950"/>
            <a:ext cx="4927600" cy="971550"/>
          </a:xfrm>
          <a:prstGeom prst="roundRect">
            <a:avLst>
              <a:gd name="adj" fmla="val 10458"/>
            </a:avLst>
          </a:prstGeom>
          <a:solidFill>
            <a:srgbClr val="13243B"/>
          </a:solidFill>
          <a:ln/>
        </p:spPr>
        <p:txBody>
          <a:bodyPr/>
          <a:lstStyle/>
          <a:p>
            <a:endParaRPr lang="es-CO"/>
          </a:p>
        </p:txBody>
      </p:sp>
      <p:sp>
        <p:nvSpPr>
          <p:cNvPr id="17" name="Text 15"/>
          <p:cNvSpPr/>
          <p:nvPr/>
        </p:nvSpPr>
        <p:spPr>
          <a:xfrm>
            <a:off x="965200" y="4933950"/>
            <a:ext cx="4761484" cy="27305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9A23B"/>
                </a:solidFill>
                <a:latin typeface="Arial" pitchFamily="34" charset="0"/>
                <a:ea typeface="Arial" pitchFamily="34" charset="-122"/>
                <a:cs typeface="Arial" pitchFamily="34" charset="-120"/>
              </a:rPr>
              <a:t>Revisión cada 60 segundos</a:t>
            </a:r>
            <a:endParaRPr lang="en-US" sz="1400" dirty="0"/>
          </a:p>
        </p:txBody>
      </p:sp>
      <p:sp>
        <p:nvSpPr>
          <p:cNvPr id="18" name="Text 16"/>
          <p:cNvSpPr/>
          <p:nvPr/>
        </p:nvSpPr>
        <p:spPr>
          <a:xfrm>
            <a:off x="965200" y="5232400"/>
            <a:ext cx="4761484"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5F3EC"/>
                </a:solidFill>
                <a:latin typeface="Arial" pitchFamily="34" charset="0"/>
                <a:ea typeface="Arial" pitchFamily="34" charset="-122"/>
                <a:cs typeface="Arial" pitchFamily="34" charset="-120"/>
              </a:rPr>
              <a:t>Solo procesa archivos nuevos o modificados, con una huella del archivo, del modelo y del código.</a:t>
            </a:r>
            <a:endParaRPr lang="en-US" sz="1300" dirty="0"/>
          </a:p>
        </p:txBody>
      </p:sp>
      <p:sp>
        <p:nvSpPr>
          <p:cNvPr id="19" name="Shape 17"/>
          <p:cNvSpPr/>
          <p:nvPr/>
        </p:nvSpPr>
        <p:spPr>
          <a:xfrm>
            <a:off x="6045200" y="1987550"/>
            <a:ext cx="5334000" cy="3790950"/>
          </a:xfrm>
          <a:prstGeom prst="roundRect">
            <a:avLst>
              <a:gd name="adj" fmla="val 2680"/>
            </a:avLst>
          </a:prstGeom>
          <a:solidFill>
            <a:srgbClr val="13243B"/>
          </a:solidFill>
          <a:ln/>
        </p:spPr>
        <p:txBody>
          <a:bodyPr/>
          <a:lstStyle/>
          <a:p>
            <a:endParaRPr lang="es-CO"/>
          </a:p>
        </p:txBody>
      </p:sp>
      <p:pic>
        <p:nvPicPr>
          <p:cNvPr id="20" name="Image 0" descr="Captura de Prefect: ejecución completada del flujo Analítica recurrente de vuelos, con las cuatro tareas validar, predecir, construir indicadores y exportar, y sus registros"/>
          <p:cNvPicPr>
            <a:picLocks noChangeAspect="1"/>
          </p:cNvPicPr>
          <p:nvPr/>
        </p:nvPicPr>
        <p:blipFill>
          <a:blip ns2:embed="rId3"/>
          <a:srcRect l="-2" r="-2"/>
          <a:stretch/>
        </p:blipFill>
        <p:spPr>
          <a:xfrm>
            <a:off x="6407150" y="2089150"/>
            <a:ext cx="4610100" cy="3302000"/>
          </a:xfrm>
          <a:prstGeom prst="rect">
            <a:avLst/>
          </a:prstGeom>
        </p:spPr>
      </p:pic>
      <p:sp>
        <p:nvSpPr>
          <p:cNvPr id="21" name="Text 18"/>
          <p:cNvSpPr/>
          <p:nvPr/>
        </p:nvSpPr>
        <p:spPr>
          <a:xfrm>
            <a:off x="6546820" y="5467350"/>
            <a:ext cx="4330660" cy="222250"/>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B8C4D2"/>
                </a:solidFill>
                <a:latin typeface="Arial" pitchFamily="34" charset="0"/>
                <a:ea typeface="Arial" pitchFamily="34" charset="-122"/>
                <a:cs typeface="Arial" pitchFamily="34" charset="-120"/>
              </a:rPr>
              <a:t>Prefect ejecutado por mes; se validaron los totales de entrada.</a:t>
            </a:r>
            <a:endParaRPr lang="en-US" sz="1200" dirty="0"/>
          </a:p>
        </p:txBody>
      </p:sp>
      <p:sp>
        <p:nvSpPr>
          <p:cNvPr id="22" name="Text 19"/>
          <p:cNvSpPr/>
          <p:nvPr/>
        </p:nvSpPr>
        <p:spPr>
          <a:xfrm>
            <a:off x="812800" y="6242050"/>
            <a:ext cx="98107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Enero–julio de 2022: 3.944.916 vuelos en 1.726.512 filas agregadas. Flujo inicia desde Parquet preparado.</a:t>
            </a:r>
            <a:endParaRPr lang="en-US" sz="1200" dirty="0"/>
          </a:p>
        </p:txBody>
      </p:sp>
      <p:sp>
        <p:nvSpPr>
          <p:cNvPr id="23" name="Text 20"/>
          <p:cNvSpPr/>
          <p:nvPr/>
        </p:nvSpPr>
        <p:spPr>
          <a:xfrm>
            <a:off x="10693400" y="6242050"/>
            <a:ext cx="685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ns2="http://schemas.openxmlformats.org/officeDocument/2006/relationships" xmlns:p="http://schemas.openxmlformats.org/presentationml/2006/main">
  <p:cSld name="Slide 11">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76B7B"/>
                </a:solidFill>
                <a:latin typeface="Arial" pitchFamily="34" charset="0"/>
                <a:ea typeface="Arial" pitchFamily="34" charset="-122"/>
                <a:cs typeface="Arial" pitchFamily="34" charset="-120"/>
              </a:rPr>
              <a:t>7 · QUE FUNCIONE SIN NOSOTROS · RESULTADOS EN LA NUBE</a:t>
            </a:r>
            <a:endParaRPr lang="en-US" sz="1400" dirty="0"/>
          </a:p>
        </p:txBody>
      </p:sp>
      <p:sp>
        <p:nvSpPr>
          <p:cNvPr id="3" name="Text 1"/>
          <p:cNvSpPr>
            <a:spLocks noGrp="1"/>
          </p:cNvSpPr>
          <p:nvPr>
            <p:ph type="title"/>
          </p:nvPr>
        </p:nvSpPr>
        <p:spPr>
          <a:xfrm>
            <a:off x="812800" y="131445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22F"/>
                </a:solidFill>
                <a:latin typeface="Arial" pitchFamily="34" charset="0"/>
                <a:ea typeface="Arial" pitchFamily="34" charset="-122"/>
                <a:cs typeface="Arial" pitchFamily="34" charset="-120"/>
              </a:rPr>
              <a:t>Salida analítica preparada; despliegue pendiente</a:t>
            </a:r>
            <a:endParaRPr lang="en-US" sz="3000" dirty="0"/>
          </a:p>
        </p:txBody>
      </p:sp>
      <p:sp>
        <p:nvSpPr>
          <p:cNvPr id="4" name="Shape 2"/>
          <p:cNvSpPr/>
          <p:nvPr/>
        </p:nvSpPr>
        <p:spPr>
          <a:xfrm>
            <a:off x="812800" y="1987550"/>
            <a:ext cx="3276600" cy="1416050"/>
          </a:xfrm>
          <a:prstGeom prst="roundRect">
            <a:avLst>
              <a:gd name="adj" fmla="val 7175"/>
            </a:avLst>
          </a:prstGeom>
          <a:solidFill>
            <a:srgbClr val="13243B"/>
          </a:solidFill>
          <a:ln/>
        </p:spPr>
        <p:txBody>
          <a:bodyPr/>
          <a:lstStyle/>
          <a:p>
            <a:endParaRPr lang="es-CO"/>
          </a:p>
        </p:txBody>
      </p:sp>
      <p:sp>
        <p:nvSpPr>
          <p:cNvPr id="5" name="Text 3"/>
          <p:cNvSpPr/>
          <p:nvPr/>
        </p:nvSpPr>
        <p:spPr>
          <a:xfrm>
            <a:off x="990600" y="2139950"/>
            <a:ext cx="3008630" cy="4699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E9A23B"/>
                </a:solidFill>
                <a:latin typeface="Arial" pitchFamily="34" charset="0"/>
                <a:ea typeface="Arial" pitchFamily="34" charset="-122"/>
                <a:cs typeface="Arial" pitchFamily="34" charset="-120"/>
              </a:rPr>
              <a:t>1.726.512</a:t>
            </a:r>
            <a:endParaRPr lang="en-US" sz="3200" dirty="0"/>
          </a:p>
        </p:txBody>
      </p:sp>
      <p:sp>
        <p:nvSpPr>
          <p:cNvPr id="6" name="Text 4"/>
          <p:cNvSpPr/>
          <p:nvPr/>
        </p:nvSpPr>
        <p:spPr>
          <a:xfrm>
            <a:off x="990600" y="2622550"/>
            <a:ext cx="3008630" cy="65405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B8C4D2"/>
                </a:solidFill>
                <a:latin typeface="Arial" pitchFamily="34" charset="0"/>
                <a:ea typeface="Arial" pitchFamily="34" charset="-122"/>
                <a:cs typeface="Arial" pitchFamily="34" charset="-120"/>
              </a:rPr>
              <a:t>filas agregadas preparadas localmente: 3.944.916 vuelos, 853.962 retrasos</a:t>
            </a:r>
            <a:endParaRPr lang="en-US" sz="1300" dirty="0"/>
          </a:p>
        </p:txBody>
      </p:sp>
      <p:sp>
        <p:nvSpPr>
          <p:cNvPr id="7" name="Shape 5"/>
          <p:cNvSpPr/>
          <p:nvPr/>
        </p:nvSpPr>
        <p:spPr>
          <a:xfrm>
            <a:off x="815975" y="3533775"/>
            <a:ext cx="3270250" cy="1003300"/>
          </a:xfrm>
          <a:prstGeom prst="roundRect">
            <a:avLst>
              <a:gd name="adj" fmla="val 9810"/>
            </a:avLst>
          </a:prstGeom>
          <a:solidFill>
            <a:srgbClr val="FBFAF6"/>
          </a:solidFill>
          <a:ln w="6350">
            <a:solidFill>
              <a:srgbClr val="DAD6C8"/>
            </a:solidFill>
            <a:prstDash val="solid"/>
          </a:ln>
        </p:spPr>
        <p:txBody>
          <a:bodyPr/>
          <a:lstStyle/>
          <a:p>
            <a:endParaRPr lang="es-CO"/>
          </a:p>
        </p:txBody>
      </p:sp>
      <p:sp>
        <p:nvSpPr>
          <p:cNvPr id="8" name="Text 6"/>
          <p:cNvSpPr/>
          <p:nvPr/>
        </p:nvSpPr>
        <p:spPr>
          <a:xfrm>
            <a:off x="996950" y="3689350"/>
            <a:ext cx="2995549" cy="260350"/>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6222F"/>
                </a:solidFill>
                <a:latin typeface="Arial" pitchFamily="34" charset="0"/>
                <a:ea typeface="Arial" pitchFamily="34" charset="-122"/>
                <a:cs typeface="Arial" pitchFamily="34" charset="-120"/>
              </a:rPr>
              <a:t>Solo el resultado analítico</a:t>
            </a:r>
            <a:endParaRPr lang="en-US" sz="1500" dirty="0"/>
          </a:p>
        </p:txBody>
      </p:sp>
      <p:sp>
        <p:nvSpPr>
          <p:cNvPr id="9" name="Text 7"/>
          <p:cNvSpPr/>
          <p:nvPr/>
        </p:nvSpPr>
        <p:spPr>
          <a:xfrm>
            <a:off x="996950" y="3962400"/>
            <a:ext cx="2995549"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El dataset original nunca se sube a AWS.</a:t>
            </a:r>
            <a:endParaRPr lang="en-US" sz="1300" dirty="0"/>
          </a:p>
        </p:txBody>
      </p:sp>
      <p:sp>
        <p:nvSpPr>
          <p:cNvPr id="10" name="Text 8"/>
          <p:cNvSpPr/>
          <p:nvPr/>
        </p:nvSpPr>
        <p:spPr>
          <a:xfrm>
            <a:off x="815975" y="4670425"/>
            <a:ext cx="3270250" cy="977900"/>
          </a:xfrm>
          <a:prstGeom prst="roundRect">
            <a:avLst>
              <a:gd name="adj" fmla="val 10065"/>
            </a:avLst>
          </a:prstGeom>
          <a:solidFill>
            <a:srgbClr val="FBFAF6"/>
          </a:solidFill>
          <a:ln w="6350">
            <a:solidFill>
              <a:srgbClr val="DAD6C8"/>
            </a:solidFill>
            <a:prstDash val="solid"/>
          </a:ln>
        </p:spPr>
        <p:txBody>
          <a:bodyPr wrap="square" lIns="152147" tIns="126747" rIns="64898" bIns="101347" rtlCol="0" anchor="t">
            <a:normAutofit/>
          </a:bodyPr>
          <a:lstStyle/>
          <a:p>
            <a:pPr marL="0" indent="0" algn="l">
              <a:lnSpc>
                <a:spcPts val="1755"/>
              </a:lnSpc>
              <a:buNone/>
            </a:pPr>
            <a:r>
              <a:rPr lang="en-US" sz="1300" dirty="0">
                <a:solidFill>
                  <a:srgbClr val="55606B"/>
                </a:solidFill>
                <a:latin typeface="Arial" pitchFamily="34" charset="0"/>
                <a:ea typeface="Arial" pitchFamily="34" charset="-122"/>
                <a:cs typeface="Arial" pitchFamily="34" charset="-120"/>
              </a:rPr>
              <a:t>La conexión y carga en AWS no se verificaron. Falta conectar Grafana y validar lectura.</a:t>
            </a:r>
            <a:endParaRPr lang="en-US" sz="1300" dirty="0"/>
          </a:p>
        </p:txBody>
      </p:sp>
      <p:sp>
        <p:nvSpPr>
          <p:cNvPr id="11" name="Shape 9"/>
          <p:cNvSpPr/>
          <p:nvPr/>
        </p:nvSpPr>
        <p:spPr>
          <a:xfrm>
            <a:off x="4394200" y="1987550"/>
            <a:ext cx="6985000" cy="3816350"/>
          </a:xfrm>
          <a:prstGeom prst="roundRect">
            <a:avLst>
              <a:gd name="adj" fmla="val 2662"/>
            </a:avLst>
          </a:prstGeom>
          <a:solidFill>
            <a:srgbClr val="0F1B2D"/>
          </a:solidFill>
          <a:ln/>
        </p:spPr>
        <p:txBody>
          <a:bodyPr/>
          <a:lstStyle/>
          <a:p>
            <a:endParaRPr lang="es-CO"/>
          </a:p>
        </p:txBody>
      </p:sp>
      <p:pic>
        <p:nvPicPr>
          <p:cNvPr id="12" name="Image 0" descr="Captura del tablero de Grafana: 3.944.916 vuelos analizados, 21,65 % con retraso, barras de retrasos observados frente a riesgo estimado por mes, top 10 de orígenes por vuelos con retraso y tabla de orígenes con mayor tasa"/>
          <p:cNvPicPr>
            <a:picLocks noChangeAspect="1"/>
          </p:cNvPicPr>
          <p:nvPr/>
        </p:nvPicPr>
        <p:blipFill>
          <a:blip ns2:embed="rId3"/>
          <a:srcRect t="-34" b="-34"/>
          <a:stretch/>
        </p:blipFill>
        <p:spPr>
          <a:xfrm>
            <a:off x="4470400" y="2063750"/>
            <a:ext cx="6832600" cy="3663950"/>
          </a:xfrm>
          <a:prstGeom prst="rect">
            <a:avLst/>
          </a:prstGeom>
        </p:spPr>
      </p:pic>
      <p:sp>
        <p:nvSpPr>
          <p:cNvPr id="13" name="Text 10"/>
          <p:cNvSpPr/>
          <p:nvPr/>
        </p:nvSpPr>
        <p:spPr>
          <a:xfrm>
            <a:off x="812800" y="6242050"/>
            <a:ext cx="98107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Dashboard JSON preparado; requiere instancia y fuente de datos. Enero–julio de 2022.</a:t>
            </a:r>
            <a:endParaRPr lang="en-US" sz="1200" dirty="0"/>
          </a:p>
        </p:txBody>
      </p:sp>
      <p:sp>
        <p:nvSpPr>
          <p:cNvPr id="14" name="Text 11"/>
          <p:cNvSpPr/>
          <p:nvPr/>
        </p:nvSpPr>
        <p:spPr>
          <a:xfrm>
            <a:off x="10693400" y="6242050"/>
            <a:ext cx="685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76B7B"/>
                </a:solidFill>
                <a:latin typeface="Arial" pitchFamily="34" charset="0"/>
                <a:ea typeface="Arial" pitchFamily="34" charset="-122"/>
                <a:cs typeface="Arial" pitchFamily="34" charset="-120"/>
              </a:rPr>
              <a:t>8 · RECOMENDACIONES</a:t>
            </a:r>
            <a:endParaRPr lang="en-US" sz="1400" dirty="0"/>
          </a:p>
        </p:txBody>
      </p:sp>
      <p:sp>
        <p:nvSpPr>
          <p:cNvPr id="3" name="Text 1"/>
          <p:cNvSpPr>
            <a:spLocks noGrp="1"/>
          </p:cNvSpPr>
          <p:nvPr>
            <p:ph type="title"/>
          </p:nvPr>
        </p:nvSpPr>
        <p:spPr>
          <a:xfrm>
            <a:off x="812800" y="131445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22F"/>
                </a:solidFill>
                <a:latin typeface="Arial" pitchFamily="34" charset="0"/>
                <a:ea typeface="Arial" pitchFamily="34" charset="-122"/>
                <a:cs typeface="Arial" pitchFamily="34" charset="-120"/>
              </a:rPr>
              <a:t>Pasos para evaluar una aplicación en Colombia</a:t>
            </a:r>
            <a:endParaRPr lang="en-US" sz="3000" dirty="0"/>
          </a:p>
        </p:txBody>
      </p:sp>
      <p:sp>
        <p:nvSpPr>
          <p:cNvPr id="4" name="Shape 2"/>
          <p:cNvSpPr/>
          <p:nvPr/>
        </p:nvSpPr>
        <p:spPr>
          <a:xfrm>
            <a:off x="815975" y="1990725"/>
            <a:ext cx="3414216" cy="2025650"/>
          </a:xfrm>
          <a:prstGeom prst="roundRect">
            <a:avLst>
              <a:gd name="adj" fmla="val 4859"/>
            </a:avLst>
          </a:prstGeom>
          <a:solidFill>
            <a:srgbClr val="FBFAF6"/>
          </a:solidFill>
          <a:ln w="6350">
            <a:solidFill>
              <a:srgbClr val="DAD6C8"/>
            </a:solidFill>
            <a:prstDash val="solid"/>
          </a:ln>
        </p:spPr>
        <p:txBody>
          <a:bodyPr/>
          <a:lstStyle/>
          <a:p>
            <a:endParaRPr lang="es-CO"/>
          </a:p>
        </p:txBody>
      </p:sp>
      <p:sp>
        <p:nvSpPr>
          <p:cNvPr id="5" name="Text 3"/>
          <p:cNvSpPr/>
          <p:nvPr/>
        </p:nvSpPr>
        <p:spPr>
          <a:xfrm>
            <a:off x="1022350" y="2197100"/>
            <a:ext cx="309151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76B7B"/>
                </a:solidFill>
                <a:latin typeface="Arial" pitchFamily="34" charset="0"/>
                <a:ea typeface="Arial" pitchFamily="34" charset="-122"/>
                <a:cs typeface="Arial" pitchFamily="34" charset="-120"/>
              </a:rPr>
              <a:t>1</a:t>
            </a:r>
            <a:endParaRPr lang="en-US" sz="3600" dirty="0"/>
          </a:p>
        </p:txBody>
      </p:sp>
      <p:sp>
        <p:nvSpPr>
          <p:cNvPr id="6" name="Text 4"/>
          <p:cNvSpPr/>
          <p:nvPr/>
        </p:nvSpPr>
        <p:spPr>
          <a:xfrm>
            <a:off x="1022350" y="2743200"/>
            <a:ext cx="3091510" cy="29845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22F"/>
                </a:solidFill>
                <a:latin typeface="Arial" pitchFamily="34" charset="0"/>
                <a:ea typeface="Arial" pitchFamily="34" charset="-122"/>
                <a:cs typeface="Arial" pitchFamily="34" charset="-120"/>
              </a:rPr>
              <a:t>Datos y normativa local</a:t>
            </a:r>
            <a:endParaRPr lang="en-US" sz="1800" dirty="0"/>
          </a:p>
        </p:txBody>
      </p:sp>
      <p:sp>
        <p:nvSpPr>
          <p:cNvPr id="7" name="Text 5"/>
          <p:cNvSpPr/>
          <p:nvPr/>
        </p:nvSpPr>
        <p:spPr>
          <a:xfrm>
            <a:off x="1022350" y="3105150"/>
            <a:ext cx="3091510" cy="73025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55606B"/>
                </a:solidFill>
                <a:latin typeface="Arial" pitchFamily="34" charset="0"/>
                <a:ea typeface="Arial" pitchFamily="34" charset="-122"/>
                <a:cs typeface="Arial" pitchFamily="34" charset="-120"/>
              </a:rPr>
              <a:t>Validar el modelo con vuelos colombianos y revisar la reglamentación aeronáutica vigente y las políticas de la aerolínea.</a:t>
            </a:r>
            <a:endParaRPr lang="en-US" sz="1400" dirty="0"/>
          </a:p>
        </p:txBody>
      </p:sp>
      <p:sp>
        <p:nvSpPr>
          <p:cNvPr id="8" name="Shape 6"/>
          <p:cNvSpPr/>
          <p:nvPr/>
        </p:nvSpPr>
        <p:spPr>
          <a:xfrm>
            <a:off x="4388941" y="1990725"/>
            <a:ext cx="3414216" cy="2025650"/>
          </a:xfrm>
          <a:prstGeom prst="roundRect">
            <a:avLst>
              <a:gd name="adj" fmla="val 4859"/>
            </a:avLst>
          </a:prstGeom>
          <a:solidFill>
            <a:srgbClr val="FBFAF6"/>
          </a:solidFill>
          <a:ln w="6350">
            <a:solidFill>
              <a:srgbClr val="DAD6C8"/>
            </a:solidFill>
            <a:prstDash val="solid"/>
          </a:ln>
        </p:spPr>
        <p:txBody>
          <a:bodyPr/>
          <a:lstStyle/>
          <a:p>
            <a:endParaRPr lang="es-CO"/>
          </a:p>
        </p:txBody>
      </p:sp>
      <p:sp>
        <p:nvSpPr>
          <p:cNvPr id="9" name="Text 7"/>
          <p:cNvSpPr/>
          <p:nvPr/>
        </p:nvSpPr>
        <p:spPr>
          <a:xfrm>
            <a:off x="4595316" y="2197100"/>
            <a:ext cx="309151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76B7B"/>
                </a:solidFill>
                <a:latin typeface="Arial" pitchFamily="34" charset="0"/>
                <a:ea typeface="Arial" pitchFamily="34" charset="-122"/>
                <a:cs typeface="Arial" pitchFamily="34" charset="-120"/>
              </a:rPr>
              <a:t>2</a:t>
            </a:r>
            <a:endParaRPr lang="en-US" sz="3600" dirty="0"/>
          </a:p>
        </p:txBody>
      </p:sp>
      <p:sp>
        <p:nvSpPr>
          <p:cNvPr id="10" name="Text 8"/>
          <p:cNvSpPr/>
          <p:nvPr/>
        </p:nvSpPr>
        <p:spPr>
          <a:xfrm>
            <a:off x="4595316" y="2743200"/>
            <a:ext cx="3091510" cy="29845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22F"/>
                </a:solidFill>
                <a:latin typeface="Arial" pitchFamily="34" charset="0"/>
                <a:ea typeface="Arial" pitchFamily="34" charset="-122"/>
                <a:cs typeface="Arial" pitchFamily="34" charset="-120"/>
              </a:rPr>
              <a:t>Confirmar el horizonte de 24 h</a:t>
            </a:r>
            <a:endParaRPr lang="en-US" sz="1800" dirty="0"/>
          </a:p>
        </p:txBody>
      </p:sp>
      <p:sp>
        <p:nvSpPr>
          <p:cNvPr id="11" name="Text 9"/>
          <p:cNvSpPr/>
          <p:nvPr/>
        </p:nvSpPr>
        <p:spPr>
          <a:xfrm>
            <a:off x="4595316" y="3105150"/>
            <a:ext cx="3091510" cy="73025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55606B"/>
                </a:solidFill>
                <a:latin typeface="Arial" pitchFamily="34" charset="0"/>
                <a:ea typeface="Arial" pitchFamily="34" charset="-122"/>
                <a:cs typeface="Arial" pitchFamily="34" charset="-120"/>
              </a:rPr>
              <a:t>Verificar con planificación cuándo están disponibles los predictores; la fuente histórica no registra esos tiempos.</a:t>
            </a:r>
            <a:endParaRPr lang="en-US" sz="1400" dirty="0"/>
          </a:p>
        </p:txBody>
      </p:sp>
      <p:sp>
        <p:nvSpPr>
          <p:cNvPr id="12" name="Shape 10"/>
          <p:cNvSpPr/>
          <p:nvPr/>
        </p:nvSpPr>
        <p:spPr>
          <a:xfrm>
            <a:off x="7961908" y="1990725"/>
            <a:ext cx="3414216" cy="2025650"/>
          </a:xfrm>
          <a:prstGeom prst="roundRect">
            <a:avLst>
              <a:gd name="adj" fmla="val 4859"/>
            </a:avLst>
          </a:prstGeom>
          <a:solidFill>
            <a:srgbClr val="FBFAF6"/>
          </a:solidFill>
          <a:ln w="6350">
            <a:solidFill>
              <a:srgbClr val="DAD6C8"/>
            </a:solidFill>
            <a:prstDash val="solid"/>
          </a:ln>
        </p:spPr>
        <p:txBody>
          <a:bodyPr/>
          <a:lstStyle/>
          <a:p>
            <a:endParaRPr lang="es-CO"/>
          </a:p>
        </p:txBody>
      </p:sp>
      <p:sp>
        <p:nvSpPr>
          <p:cNvPr id="13" name="Text 11"/>
          <p:cNvSpPr/>
          <p:nvPr/>
        </p:nvSpPr>
        <p:spPr>
          <a:xfrm>
            <a:off x="8168283" y="2197100"/>
            <a:ext cx="309151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76B7B"/>
                </a:solidFill>
                <a:latin typeface="Arial" pitchFamily="34" charset="0"/>
                <a:ea typeface="Arial" pitchFamily="34" charset="-122"/>
                <a:cs typeface="Arial" pitchFamily="34" charset="-120"/>
              </a:rPr>
              <a:t>3</a:t>
            </a:r>
            <a:endParaRPr lang="en-US" sz="3600" dirty="0"/>
          </a:p>
        </p:txBody>
      </p:sp>
      <p:sp>
        <p:nvSpPr>
          <p:cNvPr id="14" name="Text 12"/>
          <p:cNvSpPr/>
          <p:nvPr/>
        </p:nvSpPr>
        <p:spPr>
          <a:xfrm>
            <a:off x="8168283" y="2743200"/>
            <a:ext cx="3091510" cy="29845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22F"/>
                </a:solidFill>
                <a:latin typeface="Arial" pitchFamily="34" charset="0"/>
                <a:ea typeface="Arial" pitchFamily="34" charset="-122"/>
                <a:cs typeface="Arial" pitchFamily="34" charset="-120"/>
              </a:rPr>
              <a:t>Piloto y medición</a:t>
            </a:r>
            <a:endParaRPr lang="en-US" sz="1800" dirty="0"/>
          </a:p>
        </p:txBody>
      </p:sp>
      <p:sp>
        <p:nvSpPr>
          <p:cNvPr id="15" name="Text 13"/>
          <p:cNvSpPr/>
          <p:nvPr/>
        </p:nvSpPr>
        <p:spPr>
          <a:xfrm>
            <a:off x="8168283" y="3105150"/>
            <a:ext cx="3091510" cy="73025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55606B"/>
                </a:solidFill>
                <a:latin typeface="Arial" pitchFamily="34" charset="0"/>
                <a:ea typeface="Arial" pitchFamily="34" charset="-122"/>
                <a:cs typeface="Arial" pitchFamily="34" charset="-120"/>
              </a:rPr>
              <a:t>Definir umbrales de alerta, medir calibración e impacto, y evaluar en un periodo no usado durante el desarrollo.</a:t>
            </a:r>
            <a:endParaRPr lang="en-US" sz="1400" dirty="0"/>
          </a:p>
        </p:txBody>
      </p:sp>
      <p:sp>
        <p:nvSpPr>
          <p:cNvPr id="16" name="Shape 14"/>
          <p:cNvSpPr/>
          <p:nvPr/>
        </p:nvSpPr>
        <p:spPr>
          <a:xfrm>
            <a:off x="812800" y="4273550"/>
            <a:ext cx="10566400" cy="1054100"/>
          </a:xfrm>
          <a:prstGeom prst="roundRect">
            <a:avLst>
              <a:gd name="adj" fmla="val 9639"/>
            </a:avLst>
          </a:prstGeom>
          <a:solidFill>
            <a:srgbClr val="13243B"/>
          </a:solidFill>
          <a:ln/>
        </p:spPr>
        <p:txBody>
          <a:bodyPr/>
          <a:lstStyle/>
          <a:p>
            <a:endParaRPr lang="es-CO"/>
          </a:p>
        </p:txBody>
      </p:sp>
      <p:sp>
        <p:nvSpPr>
          <p:cNvPr id="17" name="Text 15"/>
          <p:cNvSpPr/>
          <p:nvPr/>
        </p:nvSpPr>
        <p:spPr>
          <a:xfrm>
            <a:off x="1092200" y="4502150"/>
            <a:ext cx="10307828" cy="323850"/>
          </a:xfrm>
          <a:prstGeom prst="rect">
            <a:avLst/>
          </a:prstGeom>
          <a:noFill/>
          <a:ln/>
        </p:spPr>
        <p:txBody>
          <a:bodyPr wrap="square" lIns="0" tIns="0" rIns="0" bIns="0" rtlCol="0" anchor="t">
            <a:normAutofit/>
          </a:bodyPr>
          <a:lstStyle/>
          <a:p>
            <a:pPr marL="0" indent="0" algn="l">
              <a:lnSpc>
                <a:spcPts val="2375"/>
              </a:lnSpc>
              <a:buNone/>
            </a:pPr>
            <a:r>
              <a:rPr lang="en-US" sz="1900" b="1" dirty="0">
                <a:solidFill>
                  <a:srgbClr val="E9A23B"/>
                </a:solidFill>
                <a:latin typeface="Arial" pitchFamily="34" charset="0"/>
                <a:ea typeface="Arial" pitchFamily="34" charset="-122"/>
                <a:cs typeface="Arial" pitchFamily="34" charset="-120"/>
              </a:rPr>
              <a:t>La base de EE. UU. sustenta un prototipo; su desempeño en Colombia aún no está validado.</a:t>
            </a:r>
            <a:endParaRPr lang="en-US" sz="1900" dirty="0"/>
          </a:p>
        </p:txBody>
      </p:sp>
      <p:sp>
        <p:nvSpPr>
          <p:cNvPr id="18" name="Text 16"/>
          <p:cNvSpPr/>
          <p:nvPr/>
        </p:nvSpPr>
        <p:spPr>
          <a:xfrm>
            <a:off x="1092200" y="4864100"/>
            <a:ext cx="10307828" cy="26035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B8C4D2"/>
                </a:solidFill>
                <a:latin typeface="Arial" pitchFamily="34" charset="0"/>
                <a:ea typeface="Arial" pitchFamily="34" charset="-122"/>
                <a:cs typeface="Arial" pitchFamily="34" charset="-120"/>
              </a:rPr>
              <a:t>La consulta puede incluir todos los vuelos; las alertas destacan los casos de riesgo alto.</a:t>
            </a:r>
            <a:endParaRPr lang="en-US" sz="1400" dirty="0"/>
          </a:p>
        </p:txBody>
      </p:sp>
      <p:sp>
        <p:nvSpPr>
          <p:cNvPr id="19" name="Text 17"/>
          <p:cNvSpPr/>
          <p:nvPr/>
        </p:nvSpPr>
        <p:spPr>
          <a:xfrm>
            <a:off x="812800" y="6242050"/>
            <a:ext cx="98107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Priorización de vuelos con riesgo de retraso · Herramientas de Big Data · Universidad de La Sabana</a:t>
            </a:r>
            <a:endParaRPr lang="en-US" sz="1200" dirty="0"/>
          </a:p>
        </p:txBody>
      </p:sp>
      <p:sp>
        <p:nvSpPr>
          <p:cNvPr id="20" name="Text 18"/>
          <p:cNvSpPr/>
          <p:nvPr/>
        </p:nvSpPr>
        <p:spPr>
          <a:xfrm>
            <a:off x="10693400" y="6242050"/>
            <a:ext cx="685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theme/theme1.xml><?xml version="1.0" encoding="utf-8"?>
<a:theme xmlns:a="http://schemas.openxmlformats.org/drawingml/2006/main" name="Priorización de vuelos con riesgo de retraso">
  <a:themeElements>
    <a:clrScheme name="Priorización de vuelos con riesgo de retraso">
      <a:dk1>
        <a:srgbClr val="16222F"/>
      </a:dk1>
      <a:lt1>
        <a:srgbClr val="F5F3EC"/>
      </a:lt1>
      <a:dk2>
        <a:srgbClr val="4E565E"/>
      </a:dk2>
      <a:lt2>
        <a:srgbClr val="DFDED9"/>
      </a:lt2>
      <a:accent1>
        <a:srgbClr val="E9A23B"/>
      </a:accent1>
      <a:accent2>
        <a:srgbClr val="176B7B"/>
      </a:accent2>
      <a:accent3>
        <a:srgbClr val="1D3452"/>
      </a:accent3>
      <a:accent4>
        <a:srgbClr val="8A5A0A"/>
      </a:accent4>
      <a:accent5>
        <a:srgbClr val="8FA3B8"/>
      </a:accent5>
      <a:accent6>
        <a:srgbClr val="CFCBBE"/>
      </a:accent6>
      <a:hlink>
        <a:srgbClr val="0563C1"/>
      </a:hlink>
      <a:folHlink>
        <a:srgbClr val="954F72"/>
      </a:folHlink>
    </a:clrScheme>
    <a:fontScheme name="Priorización de vuelos con riesgo de retraso">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3815</Words>
  <Application>Microsoft Office PowerPoint</Application>
  <PresentationFormat>Panorámica</PresentationFormat>
  <Paragraphs>213</Paragraphs>
  <Slides>12</Slides>
  <Notes>12</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12</vt:i4>
      </vt:variant>
    </vt:vector>
  </HeadingPairs>
  <TitlesOfParts>
    <vt:vector size="14" baseType="lpstr">
      <vt:lpstr>Arial</vt:lpstr>
      <vt:lpstr>Priorización de vuelos con riesgo de retraso</vt:lpstr>
      <vt:lpstr>Priorización de vuelos con riesgo de retraso</vt:lpstr>
      <vt:lpstr>Una aerolínea no puede vigilar todos sus vuelos</vt:lpstr>
      <vt:lpstr>29 millones de vuelos que no caben en la memoria</vt:lpstr>
      <vt:lpstr>Los retrasos se acumulan durante el día</vt:lpstr>
      <vt:lpstr>El pasado no se parece al presente</vt:lpstr>
      <vt:lpstr>Lo que no se sabe antes de salir no entra al modelo</vt:lpstr>
      <vt:lpstr>Cómo construimos la solución</vt:lpstr>
      <vt:lpstr>Casi el doble de retrasos con el mismo esfuerzo</vt:lpstr>
      <vt:lpstr>Una ayuda para ordenar, no una bola de cristal</vt:lpstr>
      <vt:lpstr>Un análisis que se repite con cada archivo nuevo</vt:lpstr>
      <vt:lpstr>Una base en la nube y un tablero para gerencia</vt:lpstr>
      <vt:lpstr>Tres pasos para pasar del prototipo a la operación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Priorización de vuelos con riesgo de retraso</dc:title>
  <dc:subject/>
  <dc:creator>Usuario</dc:creator>
  <cp:lastModifiedBy>Angela Arias</cp:lastModifiedBy>
  <cp:revision>1</cp:revision>
  <dcterms:created xsi:type="dcterms:W3CDTF">2026-10-09T02:02:01Z</dcterms:created>
  <dcterms:modified xsi:type="dcterms:W3CDTF">2026-10-09T02:18:05Z</dcterms:modified>
</cp:coreProperties>
</file>